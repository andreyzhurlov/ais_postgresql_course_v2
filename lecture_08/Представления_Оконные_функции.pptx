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16" r:id="rId2"/>
    <p:sldId id="415" r:id="rId3"/>
    <p:sldId id="393" r:id="rId4"/>
    <p:sldId id="394" r:id="rId5"/>
    <p:sldId id="395" r:id="rId6"/>
    <p:sldId id="453" r:id="rId7"/>
    <p:sldId id="455" r:id="rId8"/>
    <p:sldId id="456" r:id="rId9"/>
    <p:sldId id="444" r:id="rId10"/>
    <p:sldId id="445" r:id="rId11"/>
    <p:sldId id="446" r:id="rId12"/>
    <p:sldId id="458" r:id="rId13"/>
    <p:sldId id="447" r:id="rId14"/>
    <p:sldId id="448" r:id="rId15"/>
    <p:sldId id="449" r:id="rId16"/>
    <p:sldId id="450" r:id="rId17"/>
    <p:sldId id="451" r:id="rId18"/>
    <p:sldId id="452" r:id="rId19"/>
    <p:sldId id="457" r:id="rId20"/>
    <p:sldId id="425" r:id="rId21"/>
    <p:sldId id="429" r:id="rId22"/>
    <p:sldId id="430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59" r:id="rId37"/>
    <p:sldId id="463" r:id="rId38"/>
    <p:sldId id="460" r:id="rId39"/>
    <p:sldId id="461" r:id="rId40"/>
    <p:sldId id="464" r:id="rId41"/>
    <p:sldId id="462" r:id="rId42"/>
    <p:sldId id="465" r:id="rId43"/>
    <p:sldId id="469" r:id="rId44"/>
    <p:sldId id="466" r:id="rId45"/>
    <p:sldId id="467" r:id="rId46"/>
    <p:sldId id="468" r:id="rId47"/>
    <p:sldId id="470" r:id="rId48"/>
    <p:sldId id="471" r:id="rId49"/>
    <p:sldId id="472" r:id="rId50"/>
    <p:sldId id="473" r:id="rId51"/>
    <p:sldId id="474" r:id="rId52"/>
    <p:sldId id="475" r:id="rId53"/>
    <p:sldId id="476" r:id="rId54"/>
    <p:sldId id="477" r:id="rId55"/>
    <p:sldId id="478" r:id="rId56"/>
    <p:sldId id="479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831" autoAdjust="0"/>
    <p:restoredTop sz="94660"/>
  </p:normalViewPr>
  <p:slideViewPr>
    <p:cSldViewPr snapToGrid="0">
      <p:cViewPr>
        <p:scale>
          <a:sx n="75" d="100"/>
          <a:sy n="75" d="100"/>
        </p:scale>
        <p:origin x="-1471" y="-52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948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106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5112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0558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5028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4586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9585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8608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8779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5665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2285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8248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6/tutorial-window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stgrespro.ru/docs/postgresql/16/sql-selec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15" y="1028700"/>
              <a:ext cx="1028699" cy="100804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060864" y="3177877"/>
            <a:ext cx="47980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algn="ctr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chemeClr val="bg1"/>
                </a:solidFill>
                <a:latin typeface="Arial Black"/>
                <a:cs typeface="Arial Black"/>
              </a:rPr>
              <a:t>Группировка – </a:t>
            </a:r>
            <a:r>
              <a:rPr lang="en-US" sz="2400" dirty="0" smtClean="0">
                <a:solidFill>
                  <a:schemeClr val="bg1"/>
                </a:solidFill>
                <a:latin typeface="Arial Black"/>
                <a:cs typeface="Arial Black"/>
              </a:rPr>
              <a:t>GROUP BY</a:t>
            </a:r>
            <a:endParaRPr sz="240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90" y="1688015"/>
            <a:ext cx="123111" cy="2407919"/>
          </a:xfrm>
          <a:prstGeom prst="rect">
            <a:avLst/>
          </a:prstGeom>
        </p:spPr>
        <p:txBody>
          <a:bodyPr vert="vert270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800" spc="-4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СМОТРИ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БУДУЩЕЕ.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ИНВЕСТИРУЙ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ЗНАНИЯ.</a:t>
            </a:r>
            <a:endParaRPr sz="800">
              <a:latin typeface="Microsoft JhengHei Light"/>
              <a:cs typeface="Microsoft JhengHe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574" y="518011"/>
            <a:ext cx="253973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2A3890"/>
                </a:solidFill>
                <a:latin typeface="Roboto"/>
                <a:cs typeface="Roboto"/>
              </a:rPr>
              <a:t>GROUP</a:t>
            </a:r>
            <a:r>
              <a:rPr sz="3000" spc="-13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65" dirty="0">
                <a:solidFill>
                  <a:srgbClr val="2A3890"/>
                </a:solidFill>
                <a:latin typeface="Roboto"/>
                <a:cs typeface="Roboto"/>
              </a:rPr>
              <a:t>BY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576" y="1928204"/>
            <a:ext cx="78200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Разбивает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таблицу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по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строкам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на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несколько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групп.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Группы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определяются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значениями одного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нескольких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столбцов.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Аналитические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функции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считаются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каждой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группы</a:t>
            </a:r>
            <a:r>
              <a:rPr sz="1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отдельно.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1649" y="1963667"/>
            <a:ext cx="99060" cy="1146387"/>
          </a:xfrm>
          <a:custGeom>
            <a:avLst/>
            <a:gdLst/>
            <a:ahLst/>
            <a:cxnLst/>
            <a:rect l="l" t="t" r="r" b="b"/>
            <a:pathLst>
              <a:path w="99059" h="859789">
                <a:moveTo>
                  <a:pt x="98999" y="859199"/>
                </a:moveTo>
                <a:lnTo>
                  <a:pt x="0" y="859199"/>
                </a:lnTo>
                <a:lnTo>
                  <a:pt x="0" y="0"/>
                </a:lnTo>
                <a:lnTo>
                  <a:pt x="98999" y="0"/>
                </a:lnTo>
                <a:lnTo>
                  <a:pt x="98999" y="8591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smtClean="0"/>
              <a:t>Создание группы данных</a:t>
            </a:r>
            <a:endParaRPr lang="ru-RU" dirty="0"/>
          </a:p>
        </p:txBody>
      </p:sp>
      <p:pic>
        <p:nvPicPr>
          <p:cNvPr id="4" name="Picture 27" descr="C:\salome_official\projects\11gR2\screenshots\les5_13s_a.gif">
            <a:extLst>
              <a:ext uri="{FF2B5EF4-FFF2-40B4-BE49-F238E27FC236}">
                <a16:creationId xmlns="" xmlns:a16="http://schemas.microsoft.com/office/drawing/2014/main" id="{07DEF2BB-C82C-4CB5-9C85-60923EE63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1933575"/>
            <a:ext cx="2628900" cy="320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3">
            <a:extLst>
              <a:ext uri="{FF2B5EF4-FFF2-40B4-BE49-F238E27FC236}">
                <a16:creationId xmlns="" xmlns:a16="http://schemas.microsoft.com/office/drawing/2014/main" id="{1879997A-FA22-4265-8678-276649B86F44}"/>
              </a:ext>
            </a:extLst>
          </p:cNvPr>
          <p:cNvSpPr>
            <a:spLocks/>
          </p:cNvSpPr>
          <p:nvPr/>
        </p:nvSpPr>
        <p:spPr bwMode="gray">
          <a:xfrm>
            <a:off x="3581400" y="1912938"/>
            <a:ext cx="1571625" cy="4138612"/>
          </a:xfrm>
          <a:custGeom>
            <a:avLst/>
            <a:gdLst>
              <a:gd name="T0" fmla="*/ 0 w 1210"/>
              <a:gd name="T1" fmla="*/ 2147483647 h 2607"/>
              <a:gd name="T2" fmla="*/ 0 w 1210"/>
              <a:gd name="T3" fmla="*/ 0 h 2607"/>
              <a:gd name="T4" fmla="*/ 2147483647 w 1210"/>
              <a:gd name="T5" fmla="*/ 2147483647 h 2607"/>
              <a:gd name="T6" fmla="*/ 2147483647 w 1210"/>
              <a:gd name="T7" fmla="*/ 2147483647 h 2607"/>
              <a:gd name="T8" fmla="*/ 0 w 1210"/>
              <a:gd name="T9" fmla="*/ 2147483647 h 26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0"/>
              <a:gd name="T16" fmla="*/ 0 h 2607"/>
              <a:gd name="T17" fmla="*/ 1210 w 1210"/>
              <a:gd name="T18" fmla="*/ 2607 h 260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0" h="2607">
                <a:moveTo>
                  <a:pt x="0" y="2606"/>
                </a:moveTo>
                <a:lnTo>
                  <a:pt x="0" y="0"/>
                </a:lnTo>
                <a:lnTo>
                  <a:pt x="1209" y="741"/>
                </a:lnTo>
                <a:lnTo>
                  <a:pt x="1209" y="1849"/>
                </a:lnTo>
                <a:lnTo>
                  <a:pt x="0" y="2606"/>
                </a:lnTo>
              </a:path>
            </a:pathLst>
          </a:cu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626F51A-B2EF-4135-B1F8-6C1FCEE7F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1524000"/>
            <a:ext cx="155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sz="2000">
                <a:latin typeface="Courier New" panose="02070309020205020404" pitchFamily="49" charset="0"/>
              </a:rPr>
              <a:t>EMPLOYEES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="" xmlns:a16="http://schemas.microsoft.com/office/drawing/2014/main" id="{DB847C71-F710-4E5B-AE82-F452879E71B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95350" y="4978400"/>
            <a:ext cx="3667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ru-RU" sz="2400"/>
              <a:t>…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="" xmlns:a16="http://schemas.microsoft.com/office/drawing/2014/main" id="{34AA682D-00B2-4982-9B43-099E48D560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2152650"/>
            <a:ext cx="2636838" cy="2286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9" name="Rectangle 10">
            <a:extLst>
              <a:ext uri="{FF2B5EF4-FFF2-40B4-BE49-F238E27FC236}">
                <a16:creationId xmlns="" xmlns:a16="http://schemas.microsoft.com/office/drawing/2014/main" id="{5EC3BC58-95FF-4E34-8680-82D19F08F7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2379663"/>
            <a:ext cx="2636838" cy="4127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CB52A053-569C-45CD-81B3-3C722720FA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2794000"/>
            <a:ext cx="2638425" cy="11731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1" name="Rectangle 12">
            <a:extLst>
              <a:ext uri="{FF2B5EF4-FFF2-40B4-BE49-F238E27FC236}">
                <a16:creationId xmlns="" xmlns:a16="http://schemas.microsoft.com/office/drawing/2014/main" id="{DAD2C220-9C67-4375-925C-85ADAFEEE3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3968750"/>
            <a:ext cx="2628900" cy="661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2" name="Rectangle 13">
            <a:extLst>
              <a:ext uri="{FF2B5EF4-FFF2-40B4-BE49-F238E27FC236}">
                <a16:creationId xmlns="" xmlns:a16="http://schemas.microsoft.com/office/drawing/2014/main" id="{E750EBDC-7D32-458B-9100-3B91D34961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4633913"/>
            <a:ext cx="2617788" cy="4984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grpSp>
        <p:nvGrpSpPr>
          <p:cNvPr id="3" name="Group 15">
            <a:extLst>
              <a:ext uri="{FF2B5EF4-FFF2-40B4-BE49-F238E27FC236}">
                <a16:creationId xmlns="" xmlns:a16="http://schemas.microsoft.com/office/drawing/2014/main" id="{92B79FEF-635A-4938-BCF1-7585288BE9A7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141538"/>
            <a:ext cx="604838" cy="2886075"/>
            <a:chOff x="2518" y="1315"/>
            <a:chExt cx="381" cy="1818"/>
          </a:xfrm>
        </p:grpSpPr>
        <p:sp>
          <p:nvSpPr>
            <p:cNvPr id="14" name="Rectangle 16">
              <a:extLst>
                <a:ext uri="{FF2B5EF4-FFF2-40B4-BE49-F238E27FC236}">
                  <a16:creationId xmlns="" xmlns:a16="http://schemas.microsoft.com/office/drawing/2014/main" id="{30D0BF54-E66B-4681-BC42-5E6FBD2E1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315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4400</a:t>
              </a:r>
            </a:p>
          </p:txBody>
        </p:sp>
        <p:sp>
          <p:nvSpPr>
            <p:cNvPr id="15" name="Rectangle 17">
              <a:extLst>
                <a:ext uri="{FF2B5EF4-FFF2-40B4-BE49-F238E27FC236}">
                  <a16:creationId xmlns="" xmlns:a16="http://schemas.microsoft.com/office/drawing/2014/main" id="{8CBA9A10-0FE6-41C8-84E9-92FFFC27B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40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9500</a:t>
              </a:r>
            </a:p>
          </p:txBody>
        </p:sp>
        <p:sp>
          <p:nvSpPr>
            <p:cNvPr id="16" name="Rectangle 18">
              <a:extLst>
                <a:ext uri="{FF2B5EF4-FFF2-40B4-BE49-F238E27FC236}">
                  <a16:creationId xmlns="" xmlns:a16="http://schemas.microsoft.com/office/drawing/2014/main" id="{FAEA8047-F87C-4E22-8286-DA1E1A7EB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995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3500</a:t>
              </a:r>
            </a:p>
          </p:txBody>
        </p:sp>
        <p:sp>
          <p:nvSpPr>
            <p:cNvPr id="17" name="Rectangle 19">
              <a:extLst>
                <a:ext uri="{FF2B5EF4-FFF2-40B4-BE49-F238E27FC236}">
                  <a16:creationId xmlns="" xmlns:a16="http://schemas.microsoft.com/office/drawing/2014/main" id="{CEDB6F68-99C8-4965-94D7-FFD66CD7A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2503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6400</a:t>
              </a:r>
            </a:p>
          </p:txBody>
        </p:sp>
        <p:sp>
          <p:nvSpPr>
            <p:cNvPr id="18" name="Rectangle 20">
              <a:extLst>
                <a:ext uri="{FF2B5EF4-FFF2-40B4-BE49-F238E27FC236}">
                  <a16:creationId xmlns="" xmlns:a16="http://schemas.microsoft.com/office/drawing/2014/main" id="{F3EFDAE9-291E-484F-993C-1CE9E1755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2937"/>
              <a:ext cx="381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10033</a:t>
              </a:r>
            </a:p>
          </p:txBody>
        </p:sp>
      </p:grpSp>
      <p:sp>
        <p:nvSpPr>
          <p:cNvPr id="19" name="Rectangle 21">
            <a:extLst>
              <a:ext uri="{FF2B5EF4-FFF2-40B4-BE49-F238E27FC236}">
                <a16:creationId xmlns="" xmlns:a16="http://schemas.microsoft.com/office/drawing/2014/main" id="{EF4F51E6-1A95-4B55-B621-39994306C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599" y="1989138"/>
            <a:ext cx="3272971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ru-RU" altLang="ru-RU" dirty="0" smtClean="0"/>
              <a:t>Средняя зарплата в таблице</a:t>
            </a:r>
            <a:endParaRPr lang="en-US" altLang="ru-RU" dirty="0"/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latin typeface="Courier New" panose="02070309020205020404" pitchFamily="49" charset="0"/>
              </a:rPr>
              <a:t>EMPLOYEES</a:t>
            </a:r>
            <a:r>
              <a:rPr lang="en-US" altLang="ru-RU" dirty="0"/>
              <a:t> </a:t>
            </a:r>
            <a:r>
              <a:rPr lang="ru-RU" altLang="ru-RU" dirty="0" smtClean="0"/>
              <a:t>для каждого департамента</a:t>
            </a:r>
            <a:endParaRPr lang="en-US" altLang="ru-RU" dirty="0"/>
          </a:p>
        </p:txBody>
      </p:sp>
      <p:pic>
        <p:nvPicPr>
          <p:cNvPr id="20" name="Picture 28" descr="C:\salome_official\projects\11gR2\screenshots\les5_13_b.gif">
            <a:extLst>
              <a:ext uri="{FF2B5EF4-FFF2-40B4-BE49-F238E27FC236}">
                <a16:creationId xmlns="" xmlns:a16="http://schemas.microsoft.com/office/drawing/2014/main" id="{E81D88C2-AAE4-455F-A4DF-EA128DAB4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13" y="5351463"/>
            <a:ext cx="26289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0" descr="C:\salome_official\projects\11gR2\screenshots\les5_13_c.gif">
            <a:extLst>
              <a:ext uri="{FF2B5EF4-FFF2-40B4-BE49-F238E27FC236}">
                <a16:creationId xmlns="" xmlns:a16="http://schemas.microsoft.com/office/drawing/2014/main" id="{89E20620-88DD-4C7E-AD19-183EF075D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38" y="2943225"/>
            <a:ext cx="3417887" cy="2068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7364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Группировка данных: синтаксис оператора GROUP BY</a:t>
            </a:r>
            <a:endParaRPr lang="ru-RU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25C2019E-BE7B-429D-BDF6-3B4870470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2302363"/>
            <a:ext cx="7918450" cy="1751013"/>
          </a:xfrm>
        </p:spPr>
        <p:txBody>
          <a:bodyPr>
            <a:normAutofit/>
          </a:bodyPr>
          <a:lstStyle/>
          <a:p>
            <a:r>
              <a:rPr lang="ru-RU" altLang="ru-RU" sz="2400" dirty="0" smtClean="0"/>
              <a:t>Вы можете разделить строки в таблице на меньшие группы, используя оператор GROUP BY</a:t>
            </a:r>
            <a:endParaRPr lang="en-US" altLang="ru-RU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FDE988F-0F8B-43C1-9B1D-DBF48C5BC881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9950" y="3177076"/>
            <a:ext cx="7277100" cy="14065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SELECT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group_function(column)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FROM  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[WHERE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[GROUP BY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group_by_expression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altLang="ru-RU" i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[ORDER BY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9135501-473E-4078-9F8B-0FCFA95B74A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52500" y="4023213"/>
            <a:ext cx="4575175" cy="3016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</p:spTree>
    <p:extLst>
      <p:ext uri="{BB962C8B-B14F-4D97-AF65-F5344CB8AC3E}">
        <p14:creationId xmlns="" xmlns:p14="http://schemas.microsoft.com/office/powerpoint/2010/main" val="730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>
            <a:normAutofit/>
          </a:bodyPr>
          <a:lstStyle/>
          <a:p>
            <a:r>
              <a:rPr lang="ru-RU" altLang="ru-RU" sz="3600" dirty="0" smtClean="0"/>
              <a:t>Применение выражения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GROUP</a:t>
            </a:r>
            <a:r>
              <a:rPr lang="en-US" altLang="ru-RU" sz="3600" dirty="0" smtClean="0"/>
              <a:t>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BY</a:t>
            </a:r>
            <a:endParaRPr lang="ru-RU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EA748FC6-ABBE-48F9-B66A-210DFE96AD5A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2471282"/>
            <a:ext cx="7277100" cy="9858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AVG(salary)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;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="" xmlns:a16="http://schemas.microsoft.com/office/drawing/2014/main" id="{276E5BE4-DE75-4841-A343-F10786F72A3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571169"/>
            <a:ext cx="7918450" cy="175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dirty="0" smtClean="0"/>
              <a:t>Все столбцы в списке SELECT, которые не находятся в групповых функциях, должны быть в выражении GROUP BY.</a:t>
            </a:r>
            <a:endParaRPr lang="en-US" altLang="ru-RU" sz="2000" dirty="0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0878B38C-AA6D-4A24-A5EC-94FD57BCE6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0113" y="3099932"/>
            <a:ext cx="3160712" cy="2873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" name="Rectangle 8">
            <a:extLst>
              <a:ext uri="{FF2B5EF4-FFF2-40B4-BE49-F238E27FC236}">
                <a16:creationId xmlns="" xmlns:a16="http://schemas.microsoft.com/office/drawing/2014/main" id="{2A572C58-99E9-4E99-AE2E-22F719ED54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55825" y="2534782"/>
            <a:ext cx="1978025" cy="3016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8" name="Picture 8">
            <a:extLst>
              <a:ext uri="{FF2B5EF4-FFF2-40B4-BE49-F238E27FC236}">
                <a16:creationId xmlns="" xmlns:a16="http://schemas.microsoft.com/office/drawing/2014/main" id="{14B62966-82AD-4E3D-970A-0ED094A9D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3369"/>
            <a:ext cx="4276725" cy="1743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03546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15" y="1028700"/>
              <a:ext cx="1028699" cy="100804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06171" y="3199648"/>
            <a:ext cx="486228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Представления - </a:t>
            </a:r>
            <a:r>
              <a:rPr lang="en-US" sz="36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90" y="1688015"/>
            <a:ext cx="123111" cy="2407919"/>
          </a:xfrm>
          <a:prstGeom prst="rect">
            <a:avLst/>
          </a:prstGeom>
        </p:spPr>
        <p:txBody>
          <a:bodyPr vert="vert270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800" spc="-4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СМОТРИ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БУДУЩЕЕ.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ИНВЕСТИРУЙ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ЗНАНИЯ.</a:t>
            </a:r>
            <a:endParaRPr sz="800">
              <a:latin typeface="Microsoft JhengHei Light"/>
              <a:cs typeface="Microsoft JhengHe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078" y="118384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Представления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587" y="276351"/>
            <a:ext cx="33528" cy="445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2232" y="1110487"/>
            <a:ext cx="6787515" cy="47224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marR="398780" indent="-31750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9565" algn="l"/>
              </a:tabLst>
            </a:pPr>
            <a:r>
              <a:rPr sz="1400" b="1" spc="-10" dirty="0">
                <a:latin typeface="Arial"/>
                <a:cs typeface="Arial"/>
              </a:rPr>
              <a:t>Представление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 </a:t>
            </a:r>
            <a:r>
              <a:rPr sz="1400" spc="-10" dirty="0">
                <a:latin typeface="Microsoft Sans Serif"/>
                <a:cs typeface="Microsoft Sans Serif"/>
              </a:rPr>
              <a:t>пользователей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базы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данных выглядит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как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таблица, однако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самом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деле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его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содержимое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формируется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запросом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indent="-316865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spc="-35" dirty="0">
                <a:latin typeface="Microsoft Sans Serif"/>
                <a:cs typeface="Microsoft Sans Serif"/>
              </a:rPr>
              <a:t>Физически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виртуально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принадлежащие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представлению,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находятся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в</a:t>
            </a:r>
            <a:endParaRPr sz="1400">
              <a:latin typeface="Microsoft Sans Serif"/>
              <a:cs typeface="Microsoft Sans Serif"/>
            </a:endParaRPr>
          </a:p>
          <a:p>
            <a:pPr marL="32956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Microsoft Sans Serif"/>
                <a:cs typeface="Microsoft Sans Serif"/>
              </a:rPr>
              <a:t>таблицах,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к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которым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обращается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этот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запрос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marR="177800" indent="-317500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Имя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представления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должно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отличаться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от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имён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других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представлений, </a:t>
            </a:r>
            <a:r>
              <a:rPr sz="1400" dirty="0">
                <a:latin typeface="Microsoft Sans Serif"/>
                <a:cs typeface="Microsoft Sans Serif"/>
              </a:rPr>
              <a:t>таблиц,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последовательностей, индексов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или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сторонних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таблиц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той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схеме </a:t>
            </a:r>
            <a:r>
              <a:rPr sz="1400" dirty="0">
                <a:latin typeface="Microsoft Sans Serif"/>
                <a:cs typeface="Microsoft Sans Serif"/>
              </a:rPr>
              <a:t>данных,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где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оно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создаётся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indent="-316865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При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анализе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запроса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абсолютно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никакой </a:t>
            </a:r>
            <a:r>
              <a:rPr sz="1400" dirty="0">
                <a:latin typeface="Microsoft Sans Serif"/>
                <a:cs typeface="Microsoft Sans Serif"/>
              </a:rPr>
              <a:t>разницы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между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таблицами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и</a:t>
            </a:r>
            <a:endParaRPr sz="1400">
              <a:latin typeface="Microsoft Sans Serif"/>
              <a:cs typeface="Microsoft Sans Serif"/>
            </a:endParaRPr>
          </a:p>
          <a:p>
            <a:pPr marL="329565">
              <a:lnSpc>
                <a:spcPct val="100000"/>
              </a:lnSpc>
              <a:spcBef>
                <a:spcPts val="600"/>
              </a:spcBef>
            </a:pPr>
            <a:r>
              <a:rPr sz="1400" spc="-10">
                <a:latin typeface="Microsoft Sans Serif"/>
                <a:cs typeface="Microsoft Sans Serif"/>
              </a:rPr>
              <a:t>представлениями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marR="393065" indent="-317500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Столбец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представления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будет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изменяемым,</a:t>
            </a:r>
            <a:r>
              <a:rPr sz="1400" dirty="0">
                <a:latin typeface="Microsoft Sans Serif"/>
                <a:cs typeface="Microsoft Sans Serif"/>
              </a:rPr>
              <a:t> если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простая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ссылка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на </a:t>
            </a:r>
            <a:r>
              <a:rPr sz="1400" spc="-10" dirty="0">
                <a:latin typeface="Microsoft Sans Serif"/>
                <a:cs typeface="Microsoft Sans Serif"/>
              </a:rPr>
              <a:t>изменяемый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столбец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нижележащего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базового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отношения;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противном </a:t>
            </a:r>
            <a:r>
              <a:rPr sz="1400" dirty="0">
                <a:latin typeface="Microsoft Sans Serif"/>
                <a:cs typeface="Microsoft Sans Serif"/>
              </a:rPr>
              <a:t>случае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этот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столбец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будет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доступен </a:t>
            </a:r>
            <a:r>
              <a:rPr sz="1400" spc="-10" dirty="0">
                <a:latin typeface="Microsoft Sans Serif"/>
                <a:cs typeface="Microsoft Sans Serif"/>
              </a:rPr>
              <a:t>только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чтения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indent="-316865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Представления,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выбирающие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из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одной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таблицы,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недоступны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для</a:t>
            </a:r>
            <a:endParaRPr sz="1400">
              <a:latin typeface="Microsoft Sans Serif"/>
              <a:cs typeface="Microsoft Sans Serif"/>
            </a:endParaRPr>
          </a:p>
          <a:p>
            <a:pPr marL="32956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Microsoft Sans Serif"/>
                <a:cs typeface="Microsoft Sans Serif"/>
              </a:rPr>
              <a:t>добавления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или</a:t>
            </a:r>
            <a:r>
              <a:rPr sz="1400" spc="-10" dirty="0">
                <a:latin typeface="Microsoft Sans Serif"/>
                <a:cs typeface="Microsoft Sans Serif"/>
              </a:rPr>
              <a:t> изменения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данных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364" y="256269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Представления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587" y="276351"/>
            <a:ext cx="33528" cy="445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3908" y="1628939"/>
            <a:ext cx="6686891" cy="38786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ourier New"/>
                <a:cs typeface="Courier New"/>
              </a:rPr>
              <a:t>DROP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VIEW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IF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EXISTS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publications;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CREATE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VIEW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publications</a:t>
            </a:r>
            <a:r>
              <a:rPr sz="1600" spc="-75" dirty="0">
                <a:latin typeface="Courier New"/>
                <a:cs typeface="Courier New"/>
              </a:rPr>
              <a:t> </a:t>
            </a:r>
            <a:r>
              <a:rPr sz="1600" spc="-25" dirty="0">
                <a:latin typeface="Courier New"/>
                <a:cs typeface="Courier New"/>
              </a:rPr>
              <a:t>AS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ourier New"/>
                <a:cs typeface="Courier New"/>
              </a:rPr>
              <a:t>SELECT</a:t>
            </a:r>
            <a:endParaRPr sz="1600">
              <a:latin typeface="Courier New"/>
              <a:cs typeface="Courier New"/>
            </a:endParaRPr>
          </a:p>
          <a:p>
            <a:pPr marL="927100" marR="143129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a.au_lname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F0F0F"/>
                </a:solidFill>
                <a:latin typeface="Courier New"/>
                <a:cs typeface="Courier New"/>
              </a:rPr>
              <a:t>"Фамилия"</a:t>
            </a:r>
            <a:r>
              <a:rPr sz="1600" spc="-10" dirty="0"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a.au_fname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F0F0F"/>
                </a:solidFill>
                <a:latin typeface="Courier New"/>
                <a:cs typeface="Courier New"/>
              </a:rPr>
              <a:t>"Имя"</a:t>
            </a:r>
            <a:r>
              <a:rPr sz="1600" spc="-10" dirty="0"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t.title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F0F0F"/>
                </a:solidFill>
                <a:latin typeface="Courier New"/>
                <a:cs typeface="Courier New"/>
              </a:rPr>
              <a:t>"Название</a:t>
            </a:r>
            <a:r>
              <a:rPr sz="1600" spc="-50" dirty="0">
                <a:solidFill>
                  <a:srgbClr val="9F0F0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F0F0F"/>
                </a:solidFill>
                <a:latin typeface="Courier New"/>
                <a:cs typeface="Courier New"/>
              </a:rPr>
              <a:t>книги"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FROM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authors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JOIN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titleauthor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ta</a:t>
            </a:r>
            <a:r>
              <a:rPr sz="1600" spc="-25">
                <a:latin typeface="Courier New"/>
                <a:cs typeface="Courier New"/>
              </a:rPr>
              <a:t> </a:t>
            </a:r>
            <a:endParaRPr lang="en-US" sz="1600" spc="-25" dirty="0" smtClean="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smtClean="0">
                <a:latin typeface="Courier New"/>
                <a:cs typeface="Courier New"/>
              </a:rPr>
              <a:t>ON</a:t>
            </a:r>
            <a:r>
              <a:rPr sz="1600" spc="-30" smtClean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a.au_id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ED11FF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ED11FF"/>
                </a:solidFill>
                <a:latin typeface="Courier New"/>
                <a:cs typeface="Courier New"/>
              </a:rPr>
              <a:t> </a:t>
            </a:r>
            <a:r>
              <a:rPr sz="1600" spc="-10">
                <a:latin typeface="Courier New"/>
                <a:cs typeface="Courier New"/>
              </a:rPr>
              <a:t>ta.au_id </a:t>
            </a:r>
            <a:endParaRPr lang="en-US" sz="1600" spc="-10" dirty="0" smtClean="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smtClean="0">
                <a:latin typeface="Courier New"/>
                <a:cs typeface="Courier New"/>
              </a:rPr>
              <a:t>JOIN</a:t>
            </a:r>
            <a:r>
              <a:rPr sz="1600" spc="-40" smtClean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titles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t</a:t>
            </a:r>
            <a:r>
              <a:rPr sz="1600" spc="-20">
                <a:latin typeface="Courier New"/>
                <a:cs typeface="Courier New"/>
              </a:rPr>
              <a:t> </a:t>
            </a:r>
            <a:endParaRPr lang="en-US" sz="1600" spc="-20" dirty="0" smtClean="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smtClean="0">
                <a:latin typeface="Courier New"/>
                <a:cs typeface="Courier New"/>
              </a:rPr>
              <a:t>ON</a:t>
            </a:r>
            <a:r>
              <a:rPr sz="1600" spc="-35" smtClean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ta.title_id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ED11FF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ED11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t.title_id;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ts val="3360"/>
              </a:lnSpc>
              <a:spcBef>
                <a:spcPts val="195"/>
              </a:spcBef>
            </a:pPr>
            <a:r>
              <a:rPr sz="1600" dirty="0">
                <a:latin typeface="Courier New"/>
                <a:cs typeface="Courier New"/>
              </a:rPr>
              <a:t>SELECT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*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FROM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publications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ORDER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Фамилия,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Имя; </a:t>
            </a:r>
            <a:r>
              <a:rPr sz="1600" dirty="0">
                <a:latin typeface="Courier New"/>
                <a:cs typeface="Courier New"/>
              </a:rPr>
              <a:t>ALTER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VIEW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publications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RENAME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summary1;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059" descr="C:\salome_official\projects\11gR2_SQL 1\screenshots\les11_5s_a.gif">
            <a:extLst>
              <a:ext uri="{FF2B5EF4-FFF2-40B4-BE49-F238E27FC236}">
                <a16:creationId xmlns:a16="http://schemas.microsoft.com/office/drawing/2014/main" xmlns="" id="{9C237A1A-4FBC-4301-917A-773B119C2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7988"/>
            <a:ext cx="6489700" cy="40370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062">
            <a:extLst>
              <a:ext uri="{FF2B5EF4-FFF2-40B4-BE49-F238E27FC236}">
                <a16:creationId xmlns:a16="http://schemas.microsoft.com/office/drawing/2014/main" xmlns="" id="{FAF57396-E4E2-4E25-8A17-40927D7D8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6972" y="330881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Подробнее о представлениях</a:t>
            </a:r>
            <a:endParaRPr lang="en-US" altLang="en-US" sz="3600" dirty="0"/>
          </a:p>
        </p:txBody>
      </p:sp>
      <p:sp>
        <p:nvSpPr>
          <p:cNvPr id="12" name="Rectangle 2063">
            <a:extLst>
              <a:ext uri="{FF2B5EF4-FFF2-40B4-BE49-F238E27FC236}">
                <a16:creationId xmlns:a16="http://schemas.microsoft.com/office/drawing/2014/main" xmlns="" id="{C97EA0ED-B4A4-4A0D-84A8-F976C5699C43}"/>
              </a:ext>
            </a:extLst>
          </p:cNvPr>
          <p:cNvSpPr txBox="1">
            <a:spLocks noChangeArrowheads="1"/>
          </p:cNvSpPr>
          <p:nvPr/>
        </p:nvSpPr>
        <p:spPr>
          <a:xfrm>
            <a:off x="1566636" y="1284515"/>
            <a:ext cx="7918450" cy="769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000" b="1" dirty="0" smtClean="0">
                <a:latin typeface="Courier New" panose="02070309020205020404" pitchFamily="49" charset="0"/>
              </a:rPr>
              <a:t>EMPLOYEES</a:t>
            </a:r>
            <a:endParaRPr lang="en-US" altLang="en-US" sz="2000" b="1" dirty="0"/>
          </a:p>
          <a:p>
            <a:pPr marL="0" indent="0"/>
            <a:endParaRPr lang="en-US" altLang="en-US" dirty="0"/>
          </a:p>
        </p:txBody>
      </p:sp>
      <p:sp>
        <p:nvSpPr>
          <p:cNvPr id="13" name="Freeform 2054">
            <a:extLst>
              <a:ext uri="{FF2B5EF4-FFF2-40B4-BE49-F238E27FC236}">
                <a16:creationId xmlns:a16="http://schemas.microsoft.com/office/drawing/2014/main" xmlns="" id="{82EB6D17-2279-4611-BD11-B979D4A1ECAD}"/>
              </a:ext>
            </a:extLst>
          </p:cNvPr>
          <p:cNvSpPr>
            <a:spLocks/>
          </p:cNvSpPr>
          <p:nvPr/>
        </p:nvSpPr>
        <p:spPr bwMode="gray">
          <a:xfrm>
            <a:off x="1287463" y="2584450"/>
            <a:ext cx="5732462" cy="1303338"/>
          </a:xfrm>
          <a:custGeom>
            <a:avLst/>
            <a:gdLst>
              <a:gd name="T0" fmla="*/ 0 w 3733"/>
              <a:gd name="T1" fmla="*/ 2147483647 h 821"/>
              <a:gd name="T2" fmla="*/ 2147483647 w 3733"/>
              <a:gd name="T3" fmla="*/ 2147483647 h 821"/>
              <a:gd name="T4" fmla="*/ 2147483647 w 3733"/>
              <a:gd name="T5" fmla="*/ 0 h 821"/>
              <a:gd name="T6" fmla="*/ 2147483647 w 3733"/>
              <a:gd name="T7" fmla="*/ 2147483647 h 821"/>
              <a:gd name="T8" fmla="*/ 0 w 3733"/>
              <a:gd name="T9" fmla="*/ 2147483647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33"/>
              <a:gd name="T16" fmla="*/ 0 h 821"/>
              <a:gd name="T17" fmla="*/ 3733 w 3733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33" h="821">
                <a:moveTo>
                  <a:pt x="0" y="821"/>
                </a:moveTo>
                <a:lnTo>
                  <a:pt x="1016" y="5"/>
                </a:lnTo>
                <a:lnTo>
                  <a:pt x="3733" y="0"/>
                </a:lnTo>
                <a:lnTo>
                  <a:pt x="2716" y="821"/>
                </a:lnTo>
                <a:lnTo>
                  <a:pt x="0" y="821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2055">
            <a:extLst>
              <a:ext uri="{FF2B5EF4-FFF2-40B4-BE49-F238E27FC236}">
                <a16:creationId xmlns:a16="http://schemas.microsoft.com/office/drawing/2014/main" xmlns="" id="{616E0C76-85DB-4F9B-8154-ACAC8E05A8CD}"/>
              </a:ext>
            </a:extLst>
          </p:cNvPr>
          <p:cNvSpPr>
            <a:spLocks/>
          </p:cNvSpPr>
          <p:nvPr/>
        </p:nvSpPr>
        <p:spPr bwMode="gray">
          <a:xfrm>
            <a:off x="5313321" y="2602089"/>
            <a:ext cx="1728216" cy="2668588"/>
          </a:xfrm>
          <a:custGeom>
            <a:avLst/>
            <a:gdLst>
              <a:gd name="T0" fmla="*/ 2147483647 w 1056"/>
              <a:gd name="T1" fmla="*/ 2147483647 h 1745"/>
              <a:gd name="T2" fmla="*/ 0 w 1056"/>
              <a:gd name="T3" fmla="*/ 2147483647 h 1745"/>
              <a:gd name="T4" fmla="*/ 2147483647 w 1056"/>
              <a:gd name="T5" fmla="*/ 0 h 1745"/>
              <a:gd name="T6" fmla="*/ 2147483647 w 1056"/>
              <a:gd name="T7" fmla="*/ 2147483647 h 1745"/>
              <a:gd name="T8" fmla="*/ 2147483647 w 1056"/>
              <a:gd name="T9" fmla="*/ 2147483647 h 17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1745"/>
              <a:gd name="T17" fmla="*/ 1056 w 1056"/>
              <a:gd name="T18" fmla="*/ 1745 h 17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1745">
                <a:moveTo>
                  <a:pt x="16" y="1745"/>
                </a:moveTo>
                <a:lnTo>
                  <a:pt x="0" y="817"/>
                </a:lnTo>
                <a:lnTo>
                  <a:pt x="1056" y="0"/>
                </a:lnTo>
                <a:lnTo>
                  <a:pt x="1053" y="922"/>
                </a:lnTo>
                <a:lnTo>
                  <a:pt x="16" y="1745"/>
                </a:lnTo>
                <a:close/>
              </a:path>
            </a:pathLst>
          </a:custGeom>
          <a:solidFill>
            <a:srgbClr val="3399FF"/>
          </a:solidFill>
          <a:ln w="9525">
            <a:noFill/>
            <a:round/>
            <a:headEnd/>
            <a:tailEnd/>
          </a:ln>
          <a:scene3d>
            <a:camera prst="orthographicFront">
              <a:rot lat="0" lon="1200000" rev="0"/>
            </a:camera>
            <a:lightRig rig="threePt" dir="t"/>
          </a:scene3d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5" name="Picture 2060" descr="C:\salome_official\projects\11gR2_SQL 1\screenshots\les11_5s_b.gif">
            <a:extLst>
              <a:ext uri="{FF2B5EF4-FFF2-40B4-BE49-F238E27FC236}">
                <a16:creationId xmlns:a16="http://schemas.microsoft.com/office/drawing/2014/main" xmlns="" id="{4630F777-1362-4F53-8D2A-2CDB37D8D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0325" y="3865563"/>
            <a:ext cx="4035425" cy="137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1456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769E43E4-45D9-456C-9B80-1781AD18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/>
          <a:lstStyle/>
          <a:p>
            <a:r>
              <a:rPr lang="ru-RU" altLang="en-US" dirty="0" smtClean="0"/>
              <a:t>Преимущества представлений</a:t>
            </a:r>
            <a:endParaRPr lang="en-US" altLang="en-US" dirty="0"/>
          </a:p>
        </p:txBody>
      </p:sp>
      <p:pic>
        <p:nvPicPr>
          <p:cNvPr id="5" name="Picture 3" descr="C:\Projects\4021-Nancy\Gifs\SQL-Enhan.gif">
            <a:extLst>
              <a:ext uri="{FF2B5EF4-FFF2-40B4-BE49-F238E27FC236}">
                <a16:creationId xmlns:a16="http://schemas.microsoft.com/office/drawing/2014/main" xmlns="" id="{7B103BF6-EA8D-43A0-B8D0-EA8A0FCE0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gray">
          <a:xfrm>
            <a:off x="2471738" y="2706688"/>
            <a:ext cx="40767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xmlns="" id="{EEAA53EC-B79D-430C-9D21-DEA45A8B1D9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32971" y="1819275"/>
            <a:ext cx="1772104" cy="746125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ru-RU" altLang="en-US" sz="1600" dirty="0" smtClean="0"/>
              <a:t>Ограничить доступ к данным</a:t>
            </a:r>
            <a:endParaRPr lang="en-US" altLang="en-US" sz="1600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xmlns="" id="{2153D794-6D80-4864-8563-7120654FF2C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730875" y="1819275"/>
            <a:ext cx="2403475" cy="752475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ru-RU" altLang="en-US" dirty="0" smtClean="0"/>
              <a:t>Упростить сложные запросы</a:t>
            </a:r>
            <a:endParaRPr lang="en-US" altLang="en-US" dirty="0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xmlns="" id="{A02AC724-F48E-4696-AA54-6D4945401B9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885825" y="4633913"/>
            <a:ext cx="1790700" cy="949325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dirty="0" smtClean="0"/>
              <a:t>Обеспечить независимость данных</a:t>
            </a:r>
            <a:endParaRPr lang="en-US" altLang="en-US" dirty="0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xmlns="" id="{2576E00A-A2CC-4AF8-BB00-4ACAB9BDC1A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845175" y="4556125"/>
            <a:ext cx="2435225" cy="1027113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 dirty="0" smtClean="0"/>
              <a:t>Представить различные взгляды на одни и те же данные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3874453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31"/>
          <p:cNvSpPr>
            <a:spLocks noGrp="1"/>
          </p:cNvSpPr>
          <p:nvPr>
            <p:ph type="title"/>
          </p:nvPr>
        </p:nvSpPr>
        <p:spPr>
          <a:xfrm>
            <a:off x="722993" y="0"/>
            <a:ext cx="7886700" cy="92664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Virtual View</a:t>
            </a:r>
            <a:r>
              <a:rPr lang="en-US" sz="3200" dirty="0" smtClean="0"/>
              <a:t> (</a:t>
            </a:r>
            <a:r>
              <a:rPr lang="ru-RU" sz="3200" dirty="0" smtClean="0"/>
              <a:t>Обычное представление)</a:t>
            </a:r>
            <a:endParaRPr lang="ru-RU" sz="3200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508000" y="2605312"/>
            <a:ext cx="7358743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600" dirty="0" smtClean="0"/>
          </a:p>
          <a:p>
            <a:r>
              <a:rPr lang="ru-RU" sz="1600" b="1" dirty="0" smtClean="0"/>
              <a:t>Характеристики: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b="1" dirty="0" smtClean="0"/>
              <a:t> </a:t>
            </a:r>
            <a:r>
              <a:rPr lang="ru-RU" sz="1600" b="1" dirty="0" smtClean="0"/>
              <a:t>Не хранит данные</a:t>
            </a:r>
            <a:r>
              <a:rPr lang="ru-RU" sz="1600" dirty="0" smtClean="0"/>
              <a:t> — только SQL-запрос.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Выполняется каждый раз при обращении.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Всегда использует </a:t>
            </a:r>
            <a:r>
              <a:rPr lang="ru-RU" sz="1600" b="1" dirty="0" smtClean="0"/>
              <a:t>актуальные данные</a:t>
            </a:r>
            <a:r>
              <a:rPr lang="ru-RU" sz="1600" dirty="0" smtClean="0"/>
              <a:t> из базовой таблицы.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Хранится в </a:t>
            </a:r>
            <a:r>
              <a:rPr lang="ru-RU" sz="1600" b="1" dirty="0" err="1" smtClean="0"/>
              <a:t>метасторе</a:t>
            </a:r>
            <a:r>
              <a:rPr lang="ru-RU" sz="1600" b="1" dirty="0" smtClean="0"/>
              <a:t> </a:t>
            </a:r>
            <a:r>
              <a:rPr lang="ru-RU" sz="1600" b="1" dirty="0" err="1" smtClean="0"/>
              <a:t>Hive</a:t>
            </a:r>
            <a:r>
              <a:rPr lang="ru-RU" sz="1600" dirty="0" smtClean="0"/>
              <a:t> как объект с SQL-текстом.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Можно использовать в других SQL-запросах, как обычную таблицу.</a:t>
            </a:r>
            <a:endParaRPr lang="en-US" sz="1600" dirty="0" smtClean="0"/>
          </a:p>
          <a:p>
            <a:endParaRPr lang="ru-RU" sz="1600" dirty="0" smtClean="0"/>
          </a:p>
          <a:p>
            <a:r>
              <a:rPr lang="ru-RU" sz="1600" b="1" dirty="0" smtClean="0"/>
              <a:t>Пример создания:</a:t>
            </a:r>
            <a:endParaRPr lang="ru-RU" sz="1600" b="1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355600" y="1044806"/>
            <a:ext cx="7961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Это стандартный вид представления, аналогичный SQL </a:t>
            </a:r>
            <a:r>
              <a:rPr lang="ru-RU" dirty="0" err="1" smtClean="0"/>
              <a:t>view</a:t>
            </a:r>
            <a:r>
              <a:rPr lang="ru-RU" dirty="0" smtClean="0"/>
              <a:t> в реляционных БД.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5683" y="5079545"/>
            <a:ext cx="3451534" cy="129948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9130" y="1517651"/>
            <a:ext cx="5129040" cy="123280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4801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31"/>
          <p:cNvSpPr>
            <a:spLocks noGrp="1"/>
          </p:cNvSpPr>
          <p:nvPr>
            <p:ph type="title"/>
          </p:nvPr>
        </p:nvSpPr>
        <p:spPr>
          <a:xfrm>
            <a:off x="370114" y="0"/>
            <a:ext cx="8490857" cy="926645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Materialized View</a:t>
            </a:r>
            <a:r>
              <a:rPr lang="en-US" sz="2800" dirty="0" smtClean="0"/>
              <a:t> (</a:t>
            </a:r>
            <a:r>
              <a:rPr lang="ru-RU" sz="2800" dirty="0" smtClean="0"/>
              <a:t>Материализованное представление)</a:t>
            </a:r>
            <a:endParaRPr lang="ru-RU" sz="2800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508000" y="1690914"/>
            <a:ext cx="8011886" cy="252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Характеристики: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Хранит результат SQL-запроса.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Не обновляется автоматически (по умолчанию).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Поддерживает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инкрементальное обновление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(REBUILD).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Поддерживает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Query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Rewrite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— запросы могут быть автоматически заменены на обращение к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materialized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view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Пример создания: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6228" y="963136"/>
            <a:ext cx="82658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cs typeface="Arial" pitchFamily="34" charset="0"/>
              </a:rPr>
              <a:t>Материализованное представление </a:t>
            </a:r>
            <a:r>
              <a:rPr lang="ru-RU" sz="1600" b="1" dirty="0" smtClean="0">
                <a:cs typeface="Arial" pitchFamily="34" charset="0"/>
              </a:rPr>
              <a:t>хранит данные физически</a:t>
            </a:r>
            <a:r>
              <a:rPr lang="ru-RU" sz="1600" dirty="0" smtClean="0">
                <a:cs typeface="Arial" pitchFamily="34" charset="0"/>
              </a:rPr>
              <a:t>, как таблица. Это позволяет повысить производительность, особенно при агрегатах и </a:t>
            </a:r>
            <a:r>
              <a:rPr lang="ru-RU" sz="1600" dirty="0" err="1" smtClean="0">
                <a:cs typeface="Arial" pitchFamily="34" charset="0"/>
              </a:rPr>
              <a:t>join'ах</a:t>
            </a:r>
            <a:r>
              <a:rPr lang="ru-RU" sz="1600" dirty="0" smtClean="0">
                <a:cs typeface="Arial" pitchFamily="34" charset="0"/>
              </a:rPr>
              <a:t>.</a:t>
            </a:r>
            <a:endParaRPr lang="ru-RU" sz="1600" b="1" dirty="0" smtClean="0">
              <a:cs typeface="Arial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266" y="3441246"/>
            <a:ext cx="5092192" cy="1987097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624910" y="5777077"/>
            <a:ext cx="21689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Обновление вручную:</a:t>
            </a:r>
            <a:endParaRPr lang="ru-RU" sz="16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81388" y="5657170"/>
            <a:ext cx="4973183" cy="45633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4801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D74EDF6B-2E87-4C53-A721-41D5BEF21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Создание представления (</a:t>
            </a:r>
            <a:r>
              <a:rPr lang="en-US" altLang="en-US" sz="3600" dirty="0" err="1" smtClean="0"/>
              <a:t>PostgreSQL</a:t>
            </a:r>
            <a:r>
              <a:rPr lang="ru-RU" altLang="en-US" sz="3600" dirty="0" smtClean="0"/>
              <a:t>)</a:t>
            </a:r>
            <a:endParaRPr lang="en-US" altLang="en-US" sz="3600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78475F9D-6054-45F0-9FDE-2B328E7BCC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2395538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ru-RU" altLang="en-US" dirty="0" smtClean="0"/>
              <a:t>Вы встраиваете подзапрос в оператор CREATE VIEW:</a:t>
            </a:r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/>
            <a:r>
              <a:rPr lang="ru-RU" altLang="en-US" dirty="0" smtClean="0"/>
              <a:t>Подзапрос может содержать сложный синтаксис SELECT.</a:t>
            </a:r>
            <a:endParaRPr lang="en-US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113100B5-86DA-437D-8C40-C09A819F6791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1893888"/>
            <a:ext cx="7772400" cy="14652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CREATE [ OR REPLACE ] VIEW name [ (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column_name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[, ...] ) ]</a:t>
            </a:r>
          </a:p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[ WITH (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view_option_name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[=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view_option_value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][, ... ])]</a:t>
            </a:r>
          </a:p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AS query</a:t>
            </a:r>
          </a:p>
        </p:txBody>
      </p:sp>
    </p:spTree>
    <p:extLst>
      <p:ext uri="{BB962C8B-B14F-4D97-AF65-F5344CB8AC3E}">
        <p14:creationId xmlns:p14="http://schemas.microsoft.com/office/powerpoint/2010/main" xmlns="" val="118825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2993C6DE-19A0-45F1-B821-E43EFCA70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r>
              <a:rPr lang="ru-RU" altLang="en-US" dirty="0" smtClean="0"/>
              <a:t>Создание представления</a:t>
            </a:r>
            <a:endParaRPr lang="en-US" alt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DC1F0482-95C1-4681-A244-49CE1CD89C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3073400"/>
          </a:xfrm>
        </p:spPr>
        <p:txBody>
          <a:bodyPr/>
          <a:lstStyle/>
          <a:p>
            <a:pPr lvl="1"/>
            <a:r>
              <a:rPr lang="ru-RU" altLang="en-US" dirty="0" smtClean="0"/>
              <a:t>Создайте представление EMPVU80, содержащее сведения о сотрудниках отдела 80: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C551FC24-FAB5-4D0A-B72C-A879891CFD5E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2286000"/>
            <a:ext cx="7772400" cy="13811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VIEW 	empvu80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AS SELECT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employee_id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salary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FROM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WHERE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80;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3362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5D337BBA-1904-4A8D-B640-1E5E71399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/>
          <a:lstStyle/>
          <a:p>
            <a:r>
              <a:rPr lang="ru-RU" altLang="en-US" dirty="0" smtClean="0"/>
              <a:t>Создание представления</a:t>
            </a:r>
            <a:endParaRPr lang="en-US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434CFB09-80A1-4D58-B4F7-7216C32841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4002314"/>
          </a:xfrm>
        </p:spPr>
        <p:txBody>
          <a:bodyPr>
            <a:normAutofit/>
          </a:bodyPr>
          <a:lstStyle/>
          <a:p>
            <a:pPr lvl="1"/>
            <a:r>
              <a:rPr lang="ru-RU" altLang="en-US" dirty="0" smtClean="0"/>
              <a:t>Создайте представление, используя псевдонимы столбцов в подзапросе:</a:t>
            </a:r>
            <a:endParaRPr lang="en-US" altLang="en-US" dirty="0" smtClean="0"/>
          </a:p>
          <a:p>
            <a:pPr lvl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/>
            <a:r>
              <a:rPr lang="ru-RU" altLang="en-US" dirty="0" err="1" smtClean="0"/>
              <a:t>Выберайте</a:t>
            </a:r>
            <a:r>
              <a:rPr lang="ru-RU" altLang="en-US" dirty="0" smtClean="0"/>
              <a:t> столбцы из этого представления по заданным псевдонимам.</a:t>
            </a:r>
            <a:endParaRPr lang="en-US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37E689D7-89E0-4D5D-A470-E2B076F4B9E0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584200" y="2256971"/>
            <a:ext cx="7772400" cy="1752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VIEW 	salvu50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AS SELECT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employee_id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ID_NUMBER,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NAME,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salary*12 ANN_SALARY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FROM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WHERE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50;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rgbClr val="FF33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2290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70B2487-77FF-47D1-8A0A-12DA3DE36793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1905000"/>
            <a:ext cx="7772400" cy="5683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SELECT *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FROM   salvu50;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7AD7D6E5-0152-433B-AAB9-0FC17CBC6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Получение данных из представления</a:t>
            </a:r>
            <a:endParaRPr lang="en-US" altLang="en-US" sz="36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9E62F9F3-3BEE-4A78-8B94-E724E44A90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62113" y="2192338"/>
            <a:ext cx="1246187" cy="26035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D8B0F79-E3A4-4F9E-A504-149C7317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3200"/>
            <a:ext cx="325755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1B1AE50-19E6-4095-AC83-A973369E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xmlns="" val="3617787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CAA9751-3D7C-4A11-A51F-BFB1DC56D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Изменение представления (</a:t>
            </a:r>
            <a:r>
              <a:rPr lang="en-US" altLang="en-US" sz="3600" dirty="0" err="1" smtClean="0"/>
              <a:t>PostgreSQL</a:t>
            </a:r>
            <a:r>
              <a:rPr lang="ru-RU" altLang="en-US" sz="3600" dirty="0" smtClean="0"/>
              <a:t>)</a:t>
            </a:r>
            <a:endParaRPr lang="en-US" altLang="en-US" sz="3600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A893E1D-8921-444E-B355-44C98CF3A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4224338"/>
          </a:xfrm>
        </p:spPr>
        <p:txBody>
          <a:bodyPr>
            <a:normAutofit/>
          </a:bodyPr>
          <a:lstStyle/>
          <a:p>
            <a:pPr lvl="1"/>
            <a:r>
              <a:rPr lang="ru-RU" altLang="en-US" sz="1800" dirty="0" smtClean="0"/>
              <a:t>Измените представление EMPVU80 с помощью предложения CREATE OR REPLACE VIEW. Добавьте псевдоним для каждого имени столбца:</a:t>
            </a:r>
            <a:endParaRPr lang="en-US" altLang="en-US" sz="1800" dirty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/>
            <a:r>
              <a:rPr lang="ru-RU" altLang="en-US" sz="1800" dirty="0" smtClean="0"/>
              <a:t>Псевдонимы столбцов в предложении CREATE OR REPLACE VIEW перечислены в том же порядке, что и столбцы в подзапросе.</a:t>
            </a:r>
            <a:endParaRPr lang="en-US" altLang="en-US" sz="18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68593CFE-4C12-4D43-BA4B-08E10AFEE080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2362200"/>
            <a:ext cx="7772400" cy="2057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OR REPLACE VIEW empvu80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id_number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name,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AS SELECT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employee_id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first_name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|| ' '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||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salary,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FROM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WHERE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80;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FCB0659-0ED6-4D63-8B53-92FD5EDA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0263" y="4124325"/>
            <a:ext cx="20574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74047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F408C208-336D-47CE-8BAF-2444E35B2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Создание сложных представлений</a:t>
            </a:r>
            <a:endParaRPr lang="en-US" altLang="en-US" sz="3600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02C0A7ED-6290-4291-8975-BB9587E72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7032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altLang="en-US" dirty="0" smtClean="0"/>
              <a:t>Создайте сложное представление, содержащее групповые функции для отображения значений из двух таблиц:</a:t>
            </a:r>
            <a:endParaRPr lang="en-US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C806B057-3006-489B-81A0-1BA262130ABF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2362200"/>
            <a:ext cx="7772400" cy="2438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OR REPLACE VIEW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dept_sum_vu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(name,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avgsal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AS SELECT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d.department_name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MIN(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e.salary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MAX(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e.salary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),AVG(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e.salary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FROM     employees e JOIN departments d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ON       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d.department_id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GROUP BY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d.department_name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ED94E32-042D-48A5-AB0E-ACD05B42C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73125" y="4419600"/>
            <a:ext cx="20828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86289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CAA9751-3D7C-4A11-A51F-BFB1DC56D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Изменение представления (</a:t>
            </a:r>
            <a:r>
              <a:rPr lang="en-US" altLang="en-US" sz="3600" dirty="0" smtClean="0"/>
              <a:t>Hive</a:t>
            </a:r>
            <a:r>
              <a:rPr lang="ru-RU" altLang="en-US" sz="3600" dirty="0" smtClean="0"/>
              <a:t>)</a:t>
            </a:r>
            <a:endParaRPr lang="en-US" altLang="en-US" sz="3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88686" y="1667694"/>
            <a:ext cx="6945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ru-RU" altLang="en-US" dirty="0" smtClean="0"/>
              <a:t>Измените представления в </a:t>
            </a:r>
            <a:r>
              <a:rPr lang="en-US" altLang="en-US" dirty="0" smtClean="0"/>
              <a:t>Hive </a:t>
            </a:r>
            <a:r>
              <a:rPr lang="ru-RU" altLang="en-US" dirty="0" smtClean="0"/>
              <a:t>возможно только путём его пересоздания:</a:t>
            </a:r>
            <a:endParaRPr lang="en-US" alt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573" y="2683328"/>
            <a:ext cx="5134427" cy="212302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274047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15" y="1028700"/>
              <a:ext cx="1028699" cy="100804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91331" y="3177877"/>
            <a:ext cx="2973705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Times New Roman"/>
                <a:cs typeface="Times New Roman"/>
              </a:rPr>
              <a:t>Оконные</a:t>
            </a:r>
            <a:r>
              <a:rPr sz="2700" b="1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функции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90" y="1688015"/>
            <a:ext cx="123111" cy="2407919"/>
          </a:xfrm>
          <a:prstGeom prst="rect">
            <a:avLst/>
          </a:prstGeom>
        </p:spPr>
        <p:txBody>
          <a:bodyPr vert="vert270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800" spc="-4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СМОТРИ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БУДУЩЕЕ.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ИНВЕСТИРУЙ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ЗНАНИЯ.</a:t>
            </a:r>
            <a:endParaRPr sz="800">
              <a:latin typeface="Microsoft JhengHei Light"/>
              <a:cs typeface="Microsoft JhengHei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Window</a:t>
            </a:r>
            <a:r>
              <a:rPr sz="3600" spc="-105" dirty="0"/>
              <a:t> </a:t>
            </a:r>
            <a:r>
              <a:rPr sz="3600" spc="-20" dirty="0"/>
              <a:t>functions</a:t>
            </a:r>
            <a:r>
              <a:rPr sz="3600" spc="-100" dirty="0"/>
              <a:t> </a:t>
            </a:r>
            <a:r>
              <a:rPr sz="3600" dirty="0"/>
              <a:t>/</a:t>
            </a:r>
            <a:r>
              <a:rPr sz="3600" spc="-95" dirty="0"/>
              <a:t> </a:t>
            </a:r>
            <a:r>
              <a:rPr sz="3600" dirty="0"/>
              <a:t>оконные</a:t>
            </a:r>
            <a:r>
              <a:rPr sz="3600" spc="-100" dirty="0"/>
              <a:t> </a:t>
            </a:r>
            <a:r>
              <a:rPr sz="3600" spc="-30" dirty="0"/>
              <a:t>функции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35908" y="1919968"/>
            <a:ext cx="7886700" cy="3635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3270">
              <a:lnSpc>
                <a:spcPct val="120000"/>
              </a:lnSpc>
              <a:spcBef>
                <a:spcPts val="100"/>
              </a:spcBef>
              <a:buNone/>
            </a:pPr>
            <a:r>
              <a:rPr sz="2000" dirty="0"/>
              <a:t>Применение</a:t>
            </a:r>
            <a:r>
              <a:rPr sz="2000" spc="-45" dirty="0"/>
              <a:t> </a:t>
            </a:r>
            <a:r>
              <a:rPr sz="2000" dirty="0"/>
              <a:t>аналитических</a:t>
            </a:r>
            <a:r>
              <a:rPr sz="2000" spc="-40" dirty="0"/>
              <a:t> </a:t>
            </a:r>
            <a:r>
              <a:rPr sz="2000" spc="-45" dirty="0"/>
              <a:t>функций </a:t>
            </a:r>
            <a:r>
              <a:rPr sz="2000" dirty="0"/>
              <a:t>на</a:t>
            </a:r>
            <a:r>
              <a:rPr sz="2000" spc="-40" dirty="0"/>
              <a:t> </a:t>
            </a:r>
            <a:r>
              <a:rPr sz="2000" dirty="0"/>
              <a:t>нескольких</a:t>
            </a:r>
            <a:r>
              <a:rPr sz="2000" spc="-45" dirty="0"/>
              <a:t> </a:t>
            </a:r>
            <a:r>
              <a:rPr sz="2000" spc="-10" dirty="0"/>
              <a:t>строках,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5" dirty="0"/>
              <a:t> </a:t>
            </a:r>
            <a:r>
              <a:rPr sz="2000" spc="-35" dirty="0"/>
              <a:t>результате</a:t>
            </a:r>
            <a:r>
              <a:rPr sz="2000" spc="-40" dirty="0"/>
              <a:t> </a:t>
            </a:r>
            <a:r>
              <a:rPr sz="2000" spc="-10" dirty="0"/>
              <a:t>которого </a:t>
            </a:r>
            <a:r>
              <a:rPr sz="2000" spc="-25" dirty="0"/>
              <a:t>сохраняются</a:t>
            </a:r>
            <a:r>
              <a:rPr sz="2000" spc="-35" dirty="0"/>
              <a:t> </a:t>
            </a:r>
            <a:r>
              <a:rPr sz="2000" dirty="0"/>
              <a:t>все</a:t>
            </a:r>
            <a:r>
              <a:rPr sz="2000" spc="-35" dirty="0"/>
              <a:t> </a:t>
            </a:r>
            <a:r>
              <a:rPr sz="2000" dirty="0"/>
              <a:t>строки</a:t>
            </a:r>
            <a:r>
              <a:rPr sz="2000" spc="-30" dirty="0"/>
              <a:t> </a:t>
            </a:r>
            <a:r>
              <a:rPr sz="2000" spc="-10" dirty="0"/>
              <a:t>таблицы.</a:t>
            </a: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000"/>
          </a:p>
          <a:p>
            <a:pPr marL="469900" marR="5080" indent="-344170">
              <a:lnSpc>
                <a:spcPct val="120000"/>
              </a:lnSpc>
              <a:spcBef>
                <a:spcPts val="5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2000" dirty="0"/>
              <a:t>Агрегации</a:t>
            </a:r>
            <a:r>
              <a:rPr sz="2000" spc="-50" dirty="0"/>
              <a:t> </a:t>
            </a:r>
            <a:r>
              <a:rPr sz="2000" spc="-20" dirty="0"/>
              <a:t>вычисляются</a:t>
            </a:r>
            <a:r>
              <a:rPr sz="2000" spc="-40" dirty="0"/>
              <a:t> </a:t>
            </a:r>
            <a:r>
              <a:rPr sz="2000" dirty="0"/>
              <a:t>на</a:t>
            </a:r>
            <a:r>
              <a:rPr sz="2000" spc="-35" dirty="0"/>
              <a:t> </a:t>
            </a:r>
            <a:r>
              <a:rPr sz="2000" spc="-10" dirty="0"/>
              <a:t>строках,</a:t>
            </a:r>
            <a:r>
              <a:rPr sz="2000" spc="-40" dirty="0"/>
              <a:t> </a:t>
            </a:r>
            <a:r>
              <a:rPr sz="2000" spc="-20" dirty="0"/>
              <a:t>которые</a:t>
            </a:r>
            <a:r>
              <a:rPr sz="2000" spc="-35" dirty="0"/>
              <a:t> находятся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0" dirty="0"/>
              <a:t> </a:t>
            </a:r>
            <a:r>
              <a:rPr sz="2000" spc="-10" dirty="0"/>
              <a:t>“плавающем”</a:t>
            </a:r>
            <a:r>
              <a:rPr sz="2000" spc="-35" dirty="0"/>
              <a:t> </a:t>
            </a:r>
            <a:r>
              <a:rPr sz="2000" dirty="0"/>
              <a:t>окне</a:t>
            </a:r>
            <a:r>
              <a:rPr sz="2000" spc="-40" dirty="0"/>
              <a:t> </a:t>
            </a:r>
            <a:r>
              <a:rPr sz="2000" dirty="0"/>
              <a:t>(window</a:t>
            </a:r>
            <a:r>
              <a:rPr sz="2000" spc="-35" dirty="0"/>
              <a:t> </a:t>
            </a:r>
            <a:r>
              <a:rPr sz="2000" spc="-50" dirty="0"/>
              <a:t>/ </a:t>
            </a:r>
            <a:r>
              <a:rPr sz="2000" spc="-10" dirty="0"/>
              <a:t>frame).</a:t>
            </a:r>
          </a:p>
          <a:p>
            <a:pPr marL="469900" marR="81280" indent="-344170">
              <a:lnSpc>
                <a:spcPct val="120000"/>
              </a:lnSpc>
              <a:buFont typeface="Microsoft Sans Serif"/>
              <a:buChar char="●"/>
              <a:tabLst>
                <a:tab pos="469900" algn="l"/>
              </a:tabLst>
            </a:pPr>
            <a:r>
              <a:rPr sz="2000" dirty="0"/>
              <a:t>Количество</a:t>
            </a:r>
            <a:r>
              <a:rPr sz="2000" spc="-45" dirty="0"/>
              <a:t> </a:t>
            </a:r>
            <a:r>
              <a:rPr sz="2000" spc="-10" dirty="0"/>
              <a:t>строк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0" dirty="0"/>
              <a:t> </a:t>
            </a:r>
            <a:r>
              <a:rPr sz="2000" spc="-35" dirty="0"/>
              <a:t>результате</a:t>
            </a:r>
            <a:r>
              <a:rPr sz="2000" spc="-40" dirty="0"/>
              <a:t> </a:t>
            </a:r>
            <a:r>
              <a:rPr sz="2000" dirty="0"/>
              <a:t>=</a:t>
            </a:r>
            <a:r>
              <a:rPr sz="2000" spc="-40" dirty="0"/>
              <a:t> </a:t>
            </a:r>
            <a:r>
              <a:rPr sz="2000" dirty="0"/>
              <a:t>количество</a:t>
            </a:r>
            <a:r>
              <a:rPr sz="2000" spc="-40" dirty="0"/>
              <a:t> </a:t>
            </a:r>
            <a:r>
              <a:rPr sz="2000" spc="-10" dirty="0"/>
              <a:t>строк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0" dirty="0"/>
              <a:t> </a:t>
            </a:r>
            <a:r>
              <a:rPr sz="2000" dirty="0"/>
              <a:t>изначальной</a:t>
            </a:r>
            <a:r>
              <a:rPr sz="2000" spc="-40" dirty="0"/>
              <a:t> </a:t>
            </a:r>
            <a:r>
              <a:rPr sz="2000" dirty="0"/>
              <a:t>таблице</a:t>
            </a:r>
            <a:r>
              <a:rPr sz="2000" spc="-40" dirty="0"/>
              <a:t> </a:t>
            </a:r>
            <a:r>
              <a:rPr sz="2000" dirty="0"/>
              <a:t>(в</a:t>
            </a:r>
            <a:r>
              <a:rPr sz="2000" spc="-40" dirty="0"/>
              <a:t> </a:t>
            </a:r>
            <a:r>
              <a:rPr sz="2000" spc="-10" dirty="0"/>
              <a:t>отличие </a:t>
            </a:r>
            <a:r>
              <a:rPr sz="2000" dirty="0"/>
              <a:t>от</a:t>
            </a:r>
            <a:r>
              <a:rPr sz="2000" spc="-75" dirty="0"/>
              <a:t> </a:t>
            </a:r>
            <a:r>
              <a:rPr sz="2000" spc="-10" dirty="0"/>
              <a:t>GROUP</a:t>
            </a:r>
            <a:r>
              <a:rPr sz="2000" spc="-70" dirty="0"/>
              <a:t> </a:t>
            </a:r>
            <a:r>
              <a:rPr sz="2000" spc="-25" dirty="0"/>
              <a:t>BY)</a:t>
            </a:r>
          </a:p>
          <a:p>
            <a:pPr marL="469900" marR="472440" indent="-344170">
              <a:lnSpc>
                <a:spcPct val="120000"/>
              </a:lnSpc>
              <a:buFont typeface="Microsoft Sans Serif"/>
              <a:buChar char="●"/>
              <a:tabLst>
                <a:tab pos="469900" algn="l"/>
              </a:tabLst>
            </a:pPr>
            <a:r>
              <a:rPr sz="2000" dirty="0"/>
              <a:t>Рамки</a:t>
            </a:r>
            <a:r>
              <a:rPr sz="2000" spc="-30" dirty="0"/>
              <a:t> </a:t>
            </a:r>
            <a:r>
              <a:rPr sz="2000" dirty="0"/>
              <a:t>окон</a:t>
            </a:r>
            <a:r>
              <a:rPr sz="2000" spc="-30" dirty="0"/>
              <a:t> </a:t>
            </a:r>
            <a:r>
              <a:rPr sz="2000" dirty="0"/>
              <a:t>можно</a:t>
            </a:r>
            <a:r>
              <a:rPr sz="2000" spc="-25" dirty="0"/>
              <a:t> задавать</a:t>
            </a:r>
            <a:r>
              <a:rPr sz="2000" spc="-30" dirty="0"/>
              <a:t> </a:t>
            </a:r>
            <a:r>
              <a:rPr sz="2000" dirty="0"/>
              <a:t>в</a:t>
            </a:r>
            <a:r>
              <a:rPr sz="2000" spc="-30" dirty="0"/>
              <a:t> </a:t>
            </a:r>
            <a:r>
              <a:rPr sz="2000" spc="-10" dirty="0"/>
              <a:t>зависимости</a:t>
            </a:r>
            <a:r>
              <a:rPr sz="2000" spc="-25" dirty="0"/>
              <a:t> </a:t>
            </a:r>
            <a:r>
              <a:rPr sz="2000" dirty="0"/>
              <a:t>от</a:t>
            </a:r>
            <a:r>
              <a:rPr sz="2000" spc="-30" dirty="0"/>
              <a:t> </a:t>
            </a:r>
            <a:r>
              <a:rPr sz="2000" spc="-10" dirty="0"/>
              <a:t>значений</a:t>
            </a:r>
            <a:r>
              <a:rPr sz="2000" spc="-30" dirty="0"/>
              <a:t> </a:t>
            </a:r>
            <a:r>
              <a:rPr sz="2000" dirty="0"/>
              <a:t>в</a:t>
            </a:r>
            <a:r>
              <a:rPr sz="2000" spc="-25" dirty="0"/>
              <a:t> </a:t>
            </a:r>
            <a:r>
              <a:rPr sz="2000" spc="-10" dirty="0"/>
              <a:t>одном</a:t>
            </a:r>
            <a:r>
              <a:rPr sz="2000" spc="-30" dirty="0"/>
              <a:t> </a:t>
            </a:r>
            <a:r>
              <a:rPr sz="2000" dirty="0"/>
              <a:t>или</a:t>
            </a:r>
            <a:r>
              <a:rPr sz="2000" spc="-25" dirty="0"/>
              <a:t> </a:t>
            </a:r>
            <a:r>
              <a:rPr sz="2000" spc="-10" dirty="0"/>
              <a:t>нескольких столбцах</a:t>
            </a:r>
          </a:p>
        </p:txBody>
      </p:sp>
      <p:sp>
        <p:nvSpPr>
          <p:cNvPr id="4" name="object 4"/>
          <p:cNvSpPr/>
          <p:nvPr/>
        </p:nvSpPr>
        <p:spPr>
          <a:xfrm>
            <a:off x="401649" y="1963667"/>
            <a:ext cx="99060" cy="789093"/>
          </a:xfrm>
          <a:custGeom>
            <a:avLst/>
            <a:gdLst/>
            <a:ahLst/>
            <a:cxnLst/>
            <a:rect l="l" t="t" r="r" b="b"/>
            <a:pathLst>
              <a:path w="99059" h="591819">
                <a:moveTo>
                  <a:pt x="98999" y="591299"/>
                </a:moveTo>
                <a:lnTo>
                  <a:pt x="0" y="591299"/>
                </a:lnTo>
                <a:lnTo>
                  <a:pt x="0" y="0"/>
                </a:lnTo>
                <a:lnTo>
                  <a:pt x="98999" y="0"/>
                </a:lnTo>
                <a:lnTo>
                  <a:pt x="98999" y="5912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WINDOW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20" dirty="0"/>
              <a:t>OVER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112" y="1335731"/>
            <a:ext cx="8015764" cy="45494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3575" y="6013784"/>
            <a:ext cx="5332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Microsoft Sans Serif"/>
                <a:cs typeface="Microsoft Sans Serif"/>
                <a:hlinkClick r:id="rId3"/>
              </a:rPr>
              <a:t>https://postgrespro.ru/docs/postgresql/16/tutorial-window</a:t>
            </a:r>
            <a:r>
              <a:rPr sz="1400" spc="-10" dirty="0">
                <a:solidFill>
                  <a:srgbClr val="F06292"/>
                </a:solidFill>
                <a:latin typeface="Microsoft Sans Serif"/>
                <a:cs typeface="Microsoft Sans Serif"/>
              </a:rPr>
              <a:t> </a:t>
            </a:r>
            <a:r>
              <a:rPr sz="1400" u="heavy" spc="-10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Microsoft Sans Serif"/>
                <a:cs typeface="Microsoft Sans Serif"/>
                <a:hlinkClick r:id="rId4"/>
              </a:rPr>
              <a:t>https://postgrespro.ru/docs/postgresql/16/sql-select#SQL-WINDOW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WINDOW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20" dirty="0"/>
              <a:t>OVER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431" y="1369640"/>
            <a:ext cx="3452285" cy="49712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5975" y="1789233"/>
            <a:ext cx="3851225" cy="27808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WINDOW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20" dirty="0"/>
              <a:t>OVER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549" y="3754568"/>
            <a:ext cx="3331221" cy="23566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551" y="1541866"/>
            <a:ext cx="3309449" cy="2028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9165" y="1566468"/>
            <a:ext cx="2323750" cy="37685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40" dirty="0"/>
              <a:t> </a:t>
            </a:r>
            <a:r>
              <a:rPr spc="-85" dirty="0"/>
              <a:t>функции</a:t>
            </a:r>
            <a:r>
              <a:rPr spc="-100" dirty="0"/>
              <a:t> </a:t>
            </a:r>
            <a:r>
              <a:rPr dirty="0"/>
              <a:t>вместо</a:t>
            </a:r>
            <a:r>
              <a:rPr spc="-120" dirty="0"/>
              <a:t> </a:t>
            </a:r>
            <a:r>
              <a:rPr spc="-10" dirty="0"/>
              <a:t>группировки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1" y="1766181"/>
            <a:ext cx="8707695" cy="30645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3575" y="5282916"/>
            <a:ext cx="767334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Если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группировке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исходные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теряются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(группы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"схлапываются"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единственной строки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результата),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правила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сегментирования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должны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быть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едины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всех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агрегатов,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то </a:t>
            </a:r>
            <a:r>
              <a:rPr sz="1400" dirty="0">
                <a:latin typeface="Microsoft Sans Serif"/>
                <a:cs typeface="Microsoft Sans Serif"/>
              </a:rPr>
              <a:t>оконные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функции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исходные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</a:t>
            </a:r>
            <a:r>
              <a:rPr sz="1400" spc="-25" dirty="0">
                <a:latin typeface="Microsoft Sans Serif"/>
                <a:cs typeface="Microsoft Sans Serif"/>
              </a:rPr>
              <a:t> трогают,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правила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могут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быть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свои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каждой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Оконные</a:t>
            </a:r>
            <a:r>
              <a:rPr sz="3200" spc="-140" dirty="0"/>
              <a:t> </a:t>
            </a:r>
            <a:r>
              <a:rPr sz="3200" spc="-85" dirty="0"/>
              <a:t>функции</a:t>
            </a:r>
            <a:r>
              <a:rPr sz="3200" spc="-100" dirty="0"/>
              <a:t> </a:t>
            </a:r>
            <a:r>
              <a:rPr sz="3200" dirty="0"/>
              <a:t>вместо</a:t>
            </a:r>
            <a:r>
              <a:rPr sz="3200" spc="-120" dirty="0"/>
              <a:t> </a:t>
            </a:r>
            <a:r>
              <a:rPr sz="3200" spc="-10" dirty="0"/>
              <a:t>группировки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626" y="1390699"/>
            <a:ext cx="4366699" cy="21570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2276" y="1390699"/>
            <a:ext cx="3332949" cy="31305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626" y="3817367"/>
            <a:ext cx="2418575" cy="15555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6" y="518011"/>
            <a:ext cx="558773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Оконные</a:t>
            </a:r>
            <a:r>
              <a:rPr sz="3600" spc="-90" dirty="0"/>
              <a:t> </a:t>
            </a:r>
            <a:r>
              <a:rPr sz="3600" spc="-70" dirty="0"/>
              <a:t>функции:</a:t>
            </a:r>
            <a:r>
              <a:rPr sz="3600" spc="-85" dirty="0"/>
              <a:t> </a:t>
            </a:r>
            <a:r>
              <a:rPr sz="3600" dirty="0"/>
              <a:t>пример</a:t>
            </a:r>
            <a:r>
              <a:rPr sz="3600" spc="-80" dirty="0"/>
              <a:t> </a:t>
            </a:r>
            <a:r>
              <a:rPr sz="3600"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025" y="1148777"/>
            <a:ext cx="5215890" cy="214481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промежуточную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(running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total)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400" spc="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date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612775">
              <a:lnSpc>
                <a:spcPct val="100000"/>
              </a:lnSpc>
              <a:spcBef>
                <a:spcPts val="565"/>
              </a:spcBef>
            </a:pPr>
            <a:r>
              <a:rPr sz="1400" spc="-20" dirty="0">
                <a:solidFill>
                  <a:srgbClr val="800000"/>
                </a:solidFill>
                <a:latin typeface="Courier New"/>
                <a:cs typeface="Courier New"/>
              </a:rPr>
              <a:t>sales_amount</a:t>
            </a:r>
            <a:r>
              <a:rPr sz="1400" spc="-37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784225" marR="3169920" indent="-172085">
              <a:lnSpc>
                <a:spcPct val="142700"/>
              </a:lnSpc>
            </a:pPr>
            <a:r>
              <a:rPr sz="14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OVER</a:t>
            </a:r>
            <a:r>
              <a:rPr sz="1400" spc="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800000"/>
                </a:solidFill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955675">
              <a:lnSpc>
                <a:spcPct val="100000"/>
              </a:lnSpc>
              <a:spcBef>
                <a:spcPts val="56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ORDER</a:t>
            </a:r>
            <a:r>
              <a:rPr sz="1400" spc="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date)</a:t>
            </a:r>
            <a:r>
              <a:rPr sz="1400" spc="5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running_total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612775" algn="l"/>
              </a:tabLst>
            </a:pPr>
            <a:r>
              <a:rPr sz="1400" spc="-2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95257" y="1374983"/>
          <a:ext cx="3352191" cy="30251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309"/>
                <a:gridCol w="1498599"/>
                <a:gridCol w="1267283"/>
              </a:tblGrid>
              <a:tr h="5223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833" y="467211"/>
            <a:ext cx="575465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Оконные</a:t>
            </a:r>
            <a:r>
              <a:rPr sz="3600" spc="-90" dirty="0"/>
              <a:t> </a:t>
            </a:r>
            <a:r>
              <a:rPr sz="3600" spc="-70" dirty="0"/>
              <a:t>функции:</a:t>
            </a:r>
            <a:r>
              <a:rPr sz="3600" spc="-85" dirty="0"/>
              <a:t> </a:t>
            </a:r>
            <a:r>
              <a:rPr sz="3600" dirty="0"/>
              <a:t>пример</a:t>
            </a:r>
            <a:r>
              <a:rPr sz="3600" spc="-80" dirty="0"/>
              <a:t> </a:t>
            </a:r>
            <a:r>
              <a:rPr sz="3600"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025" y="1148777"/>
            <a:ext cx="5215890" cy="214481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промежуточную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(running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total)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400" spc="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date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612775">
              <a:lnSpc>
                <a:spcPct val="100000"/>
              </a:lnSpc>
              <a:spcBef>
                <a:spcPts val="565"/>
              </a:spcBef>
            </a:pPr>
            <a:r>
              <a:rPr sz="1400" spc="-20" dirty="0">
                <a:solidFill>
                  <a:srgbClr val="800000"/>
                </a:solidFill>
                <a:latin typeface="Courier New"/>
                <a:cs typeface="Courier New"/>
              </a:rPr>
              <a:t>sales_amount</a:t>
            </a:r>
            <a:r>
              <a:rPr sz="1400" spc="-37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784225" marR="3169920" indent="-172085">
              <a:lnSpc>
                <a:spcPct val="142700"/>
              </a:lnSpc>
            </a:pPr>
            <a:r>
              <a:rPr sz="14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OVER</a:t>
            </a:r>
            <a:r>
              <a:rPr sz="1400" spc="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800000"/>
                </a:solidFill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955675">
              <a:lnSpc>
                <a:spcPct val="100000"/>
              </a:lnSpc>
              <a:spcBef>
                <a:spcPts val="56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ORDER</a:t>
            </a:r>
            <a:r>
              <a:rPr sz="1400" spc="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date)</a:t>
            </a:r>
            <a:r>
              <a:rPr sz="1400" spc="5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running_total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612775" algn="l"/>
              </a:tabLst>
            </a:pPr>
            <a:r>
              <a:rPr sz="1400" spc="-2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4938" y="3633917"/>
          <a:ext cx="3000775" cy="30251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845"/>
                <a:gridCol w="1341499"/>
                <a:gridCol w="1134431"/>
              </a:tblGrid>
              <a:tr h="5223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12343" y="3515449"/>
          <a:ext cx="4194628" cy="3108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530"/>
                <a:gridCol w="1318049"/>
                <a:gridCol w="1318049"/>
              </a:tblGrid>
              <a:tr h="6747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running_total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347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387037" y="5021883"/>
            <a:ext cx="895350" cy="444500"/>
            <a:chOff x="3387037" y="3766412"/>
            <a:chExt cx="895350" cy="333375"/>
          </a:xfrm>
        </p:grpSpPr>
        <p:sp>
          <p:nvSpPr>
            <p:cNvPr id="7" name="object 7"/>
            <p:cNvSpPr/>
            <p:nvPr/>
          </p:nvSpPr>
          <p:spPr>
            <a:xfrm>
              <a:off x="3391799" y="3771174"/>
              <a:ext cx="885825" cy="323850"/>
            </a:xfrm>
            <a:custGeom>
              <a:avLst/>
              <a:gdLst/>
              <a:ahLst/>
              <a:cxnLst/>
              <a:rect l="l" t="t" r="r" b="b"/>
              <a:pathLst>
                <a:path w="885825" h="323850">
                  <a:moveTo>
                    <a:pt x="723449" y="323699"/>
                  </a:moveTo>
                  <a:lnTo>
                    <a:pt x="723449" y="242774"/>
                  </a:lnTo>
                  <a:lnTo>
                    <a:pt x="0" y="242774"/>
                  </a:lnTo>
                  <a:lnTo>
                    <a:pt x="0" y="80924"/>
                  </a:lnTo>
                  <a:lnTo>
                    <a:pt x="723449" y="80924"/>
                  </a:lnTo>
                  <a:lnTo>
                    <a:pt x="723449" y="0"/>
                  </a:lnTo>
                  <a:lnTo>
                    <a:pt x="885299" y="161849"/>
                  </a:lnTo>
                  <a:lnTo>
                    <a:pt x="723449" y="32369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91799" y="3771174"/>
              <a:ext cx="885825" cy="323850"/>
            </a:xfrm>
            <a:custGeom>
              <a:avLst/>
              <a:gdLst/>
              <a:ahLst/>
              <a:cxnLst/>
              <a:rect l="l" t="t" r="r" b="b"/>
              <a:pathLst>
                <a:path w="885825" h="323850">
                  <a:moveTo>
                    <a:pt x="0" y="80924"/>
                  </a:moveTo>
                  <a:lnTo>
                    <a:pt x="723449" y="80924"/>
                  </a:lnTo>
                  <a:lnTo>
                    <a:pt x="723449" y="0"/>
                  </a:lnTo>
                  <a:lnTo>
                    <a:pt x="885299" y="161849"/>
                  </a:lnTo>
                  <a:lnTo>
                    <a:pt x="723449" y="323699"/>
                  </a:lnTo>
                  <a:lnTo>
                    <a:pt x="723449" y="242774"/>
                  </a:lnTo>
                  <a:lnTo>
                    <a:pt x="0" y="242774"/>
                  </a:lnTo>
                  <a:lnTo>
                    <a:pt x="0" y="809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90" dirty="0"/>
              <a:t> </a:t>
            </a:r>
            <a:r>
              <a:rPr spc="-70" dirty="0"/>
              <a:t>функции:</a:t>
            </a:r>
            <a:r>
              <a:rPr spc="-85" dirty="0"/>
              <a:t> </a:t>
            </a:r>
            <a:r>
              <a:rPr dirty="0"/>
              <a:t>пример</a:t>
            </a:r>
            <a:r>
              <a:rPr spc="-8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750" y="1928412"/>
            <a:ext cx="3394710" cy="2797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общую</a:t>
            </a:r>
            <a:r>
              <a:rPr sz="14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4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4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каждому</a:t>
            </a:r>
            <a:r>
              <a:rPr sz="14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клиенту.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400" spc="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35" dirty="0">
                <a:solidFill>
                  <a:srgbClr val="C0C0C0"/>
                </a:solidFill>
                <a:latin typeface="Courier New"/>
                <a:cs typeface="Courier New"/>
              </a:rPr>
              <a:t>*,</a:t>
            </a:r>
            <a:endParaRPr sz="1400">
              <a:latin typeface="Courier New"/>
              <a:cs typeface="Courier New"/>
            </a:endParaRPr>
          </a:p>
          <a:p>
            <a:pPr marL="784225" marR="1348740" indent="-172085">
              <a:lnSpc>
                <a:spcPct val="142700"/>
              </a:lnSpc>
            </a:pPr>
            <a:r>
              <a:rPr sz="14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OVER</a:t>
            </a:r>
            <a:r>
              <a:rPr sz="1400" spc="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800000"/>
                </a:solidFill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955675">
              <a:lnSpc>
                <a:spcPct val="100000"/>
              </a:lnSpc>
              <a:spcBef>
                <a:spcPts val="565"/>
              </a:spcBef>
            </a:pP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partition</a:t>
            </a:r>
            <a:r>
              <a:rPr sz="1400" spc="8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4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client)</a:t>
            </a:r>
            <a:r>
              <a:rPr sz="1400" spc="5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sales_total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612775" algn="l"/>
              </a:tabLst>
            </a:pPr>
            <a:r>
              <a:rPr sz="1400" spc="-2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08402" y="1895816"/>
          <a:ext cx="5309895" cy="333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692"/>
                <a:gridCol w="1421953"/>
                <a:gridCol w="1343468"/>
                <a:gridCol w="1026891"/>
                <a:gridCol w="1026891"/>
              </a:tblGrid>
              <a:tr h="5867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client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262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Василий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262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6" y="1989164"/>
            <a:ext cx="4613275" cy="6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89165"/>
            <a:ext cx="7112634" cy="10002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RANK,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DENSE_RANK: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окне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отсортированными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строками;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89164"/>
            <a:ext cx="7112634" cy="1346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RANK,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DENSE_RANK: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окне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отсортированными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строками;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Arial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LAG,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LEAD:</a:t>
            </a:r>
            <a:r>
              <a:rPr sz="1500" b="1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Значение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предыдущей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последующей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окне;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89164"/>
            <a:ext cx="7112634" cy="16927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RANK,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DENSE_RANK: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окне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отсортированными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строками;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Arial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LAG,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LEAD:</a:t>
            </a:r>
            <a:r>
              <a:rPr sz="1500" b="1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Значение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предыдущей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последующей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окне;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FIRST_VALUE,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LAST_VALUE: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Первое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последнее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значение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окне;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Оконные</a:t>
            </a:r>
            <a:r>
              <a:rPr sz="3600" spc="-140" dirty="0"/>
              <a:t> </a:t>
            </a:r>
            <a:r>
              <a:rPr sz="3600" spc="-85" dirty="0"/>
              <a:t>функции</a:t>
            </a:r>
            <a:r>
              <a:rPr sz="3600" spc="-100" dirty="0"/>
              <a:t> </a:t>
            </a:r>
            <a:r>
              <a:rPr sz="3600" dirty="0"/>
              <a:t>вместо</a:t>
            </a:r>
            <a:r>
              <a:rPr sz="3600" spc="-120" dirty="0"/>
              <a:t> </a:t>
            </a:r>
            <a:r>
              <a:rPr sz="3600" spc="-10" dirty="0"/>
              <a:t>рекурсии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75" y="1349465"/>
            <a:ext cx="3260302" cy="45494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4626" y="1349466"/>
            <a:ext cx="4356899" cy="2145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9696" y="3691079"/>
            <a:ext cx="2316148" cy="21184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Совместное</a:t>
            </a:r>
            <a:r>
              <a:rPr sz="2800" spc="-60" dirty="0"/>
              <a:t> </a:t>
            </a:r>
            <a:r>
              <a:rPr sz="2800" dirty="0"/>
              <a:t>вычисление</a:t>
            </a:r>
            <a:r>
              <a:rPr sz="2800" spc="-60" dirty="0"/>
              <a:t> </a:t>
            </a:r>
            <a:r>
              <a:rPr sz="2800" dirty="0"/>
              <a:t>по</a:t>
            </a:r>
            <a:r>
              <a:rPr sz="2800" spc="-55" dirty="0"/>
              <a:t> </a:t>
            </a:r>
            <a:r>
              <a:rPr sz="2800" spc="-20" dirty="0"/>
              <a:t>разным</a:t>
            </a:r>
            <a:r>
              <a:rPr sz="2800" spc="-60" dirty="0"/>
              <a:t> </a:t>
            </a:r>
            <a:r>
              <a:rPr sz="2800" spc="-10" dirty="0"/>
              <a:t>"окнам"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75" y="1349465"/>
            <a:ext cx="3699826" cy="42597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150" y="1349467"/>
            <a:ext cx="4502624" cy="35430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93" y="198212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/>
              <a:t>Оконные</a:t>
            </a:r>
            <a:r>
              <a:rPr spc="-110"/>
              <a:t> </a:t>
            </a:r>
            <a:r>
              <a:rPr spc="-65" smtClean="0"/>
              <a:t>функции</a:t>
            </a:r>
            <a:r>
              <a:rPr lang="en-US" spc="-65" dirty="0" smtClean="0"/>
              <a:t> </a:t>
            </a:r>
            <a:r>
              <a:rPr lang="ru-RU" spc="-65" dirty="0" smtClean="0"/>
              <a:t>в </a:t>
            </a:r>
            <a:r>
              <a:rPr lang="en-US" spc="-65" dirty="0" smtClean="0"/>
              <a:t>Hive</a:t>
            </a:r>
            <a:endParaRPr spc="-65" dirty="0"/>
          </a:p>
        </p:txBody>
      </p:sp>
      <p:sp>
        <p:nvSpPr>
          <p:cNvPr id="3" name="object 3"/>
          <p:cNvSpPr txBox="1"/>
          <p:nvPr/>
        </p:nvSpPr>
        <p:spPr>
          <a:xfrm>
            <a:off x="530031" y="1169106"/>
            <a:ext cx="7656025" cy="17620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dirty="0" smtClean="0"/>
              <a:t>Оконные функции (</a:t>
            </a:r>
            <a:r>
              <a:rPr lang="ru-RU" sz="1600" dirty="0" err="1" smtClean="0"/>
              <a:t>window</a:t>
            </a:r>
            <a:r>
              <a:rPr lang="ru-RU" sz="1600" dirty="0" smtClean="0"/>
              <a:t> </a:t>
            </a:r>
            <a:r>
              <a:rPr lang="ru-RU" sz="1600" dirty="0" err="1" smtClean="0"/>
              <a:t>functions</a:t>
            </a:r>
            <a:r>
              <a:rPr lang="ru-RU" sz="1600" dirty="0" smtClean="0"/>
              <a:t>) в </a:t>
            </a:r>
            <a:r>
              <a:rPr lang="ru-RU" sz="1600" b="1" dirty="0" err="1" smtClean="0"/>
              <a:t>Apache</a:t>
            </a:r>
            <a:r>
              <a:rPr lang="ru-RU" sz="1600" b="1" dirty="0" smtClean="0"/>
              <a:t> </a:t>
            </a:r>
            <a:r>
              <a:rPr lang="ru-RU" sz="1600" b="1" dirty="0" err="1" smtClean="0"/>
              <a:t>Hive</a:t>
            </a:r>
            <a:r>
              <a:rPr lang="ru-RU" sz="1600" dirty="0" smtClean="0"/>
              <a:t> — это мощный инструмент для выполнения </a:t>
            </a:r>
            <a:r>
              <a:rPr lang="ru-RU" sz="1600" b="1" dirty="0" smtClean="0"/>
              <a:t>аналитических вычислений</a:t>
            </a:r>
            <a:r>
              <a:rPr lang="ru-RU" sz="1600" dirty="0" smtClean="0"/>
              <a:t> по строкам, сгруппированным по определённому окну (</a:t>
            </a:r>
            <a:r>
              <a:rPr lang="ru-RU" sz="1600" dirty="0" err="1" smtClean="0"/>
              <a:t>partition</a:t>
            </a:r>
            <a:r>
              <a:rPr lang="ru-RU" sz="1600" dirty="0" smtClean="0"/>
              <a:t>).</a:t>
            </a:r>
            <a:endParaRPr lang="en-US" sz="1600" dirty="0" smtClean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 smtClean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dirty="0" smtClean="0"/>
              <a:t> В отличие от агрегатных функций, оконные функции </a:t>
            </a:r>
            <a:r>
              <a:rPr lang="ru-RU" sz="1600" b="1" dirty="0" smtClean="0"/>
              <a:t>не уменьшают количество строк</a:t>
            </a:r>
            <a:r>
              <a:rPr lang="ru-RU" sz="1600" dirty="0" smtClean="0"/>
              <a:t> в результате, а возвращают вычисленное значение для каждой строки в пределах заданного окна.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029" name="Picture 5" descr="D:\GitHub\AIS_courses\Анализ_данных_SQL_Hive\лекция_08\img\sql-window-function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421" y="3276599"/>
            <a:ext cx="7123113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93" y="198212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GROUP BY </a:t>
            </a:r>
            <a:r>
              <a:rPr lang="ru-RU" dirty="0" smtClean="0"/>
              <a:t>и </a:t>
            </a:r>
            <a:r>
              <a:rPr smtClean="0"/>
              <a:t>Оконные</a:t>
            </a:r>
            <a:r>
              <a:rPr spc="-110" smtClean="0"/>
              <a:t> </a:t>
            </a:r>
            <a:r>
              <a:rPr spc="-65" smtClean="0"/>
              <a:t>функции</a:t>
            </a:r>
            <a:endParaRPr spc="-65" dirty="0"/>
          </a:p>
        </p:txBody>
      </p:sp>
      <p:pic>
        <p:nvPicPr>
          <p:cNvPr id="73730" name="Picture 2" descr="D:\GitHub\AIS_courses\Анализ_данных_SQL_Hive\лекция_08\img\B01781_06_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9218" y="1863724"/>
            <a:ext cx="8345810" cy="34122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93" y="198212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/>
              <a:t>Оконные</a:t>
            </a:r>
            <a:r>
              <a:rPr spc="-110"/>
              <a:t> </a:t>
            </a:r>
            <a:r>
              <a:rPr spc="-65" smtClean="0"/>
              <a:t>функции</a:t>
            </a:r>
            <a:r>
              <a:rPr lang="en-US" spc="-65" dirty="0" smtClean="0"/>
              <a:t> </a:t>
            </a:r>
            <a:r>
              <a:rPr lang="ru-RU" spc="-65" dirty="0" smtClean="0"/>
              <a:t>в </a:t>
            </a:r>
            <a:r>
              <a:rPr lang="en-US" spc="-65" dirty="0" smtClean="0"/>
              <a:t>Hive</a:t>
            </a:r>
            <a:endParaRPr spc="-65" dirty="0"/>
          </a:p>
        </p:txBody>
      </p:sp>
      <p:pic>
        <p:nvPicPr>
          <p:cNvPr id="1027" name="Picture 3" descr="D:\GitHub\AIS_courses\Анализ_данных_SQL_Hive\лекция_08\img\1_PVhKnZYaGNSoJyxwAtzq9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315" y="1216705"/>
            <a:ext cx="7412266" cy="52415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 smtClean="0"/>
              <a:t>Синтаксис оконной функции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325" y="1232810"/>
            <a:ext cx="3546475" cy="192904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544286" y="3868057"/>
            <a:ext cx="7866743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PARTITION BY — разбивает данные на группы (например, по клиенту)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ORDER BY — упорядочивает строки внутри группы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ROWS BETWEEN ... — определяет диапазон строк (например, текущая + предыдущие)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022" y="190955"/>
            <a:ext cx="78867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lang="ru-RU" sz="4000" dirty="0" smtClean="0"/>
              <a:t>Диапазон строк в Оконной функции</a:t>
            </a:r>
            <a:endParaRPr sz="4000" spc="-65" dirty="0"/>
          </a:p>
        </p:txBody>
      </p:sp>
      <p:pic>
        <p:nvPicPr>
          <p:cNvPr id="74754" name="Picture 2" descr="D:\GitHub\AIS_courses\Анализ_данных_SQL_Hive\лекция_08\img\window-fram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2184" y="1579335"/>
            <a:ext cx="7765948" cy="3174093"/>
          </a:xfrm>
          <a:prstGeom prst="rect">
            <a:avLst/>
          </a:prstGeom>
          <a:noFill/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47487" y="5145313"/>
            <a:ext cx="73877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Вы</a:t>
            </a:r>
            <a:r>
              <a:rPr kumimoji="0" lang="ru-RU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можете задать различные </a:t>
            </a:r>
            <a:r>
              <a:rPr lang="ru-RU" sz="1600" dirty="0" smtClean="0">
                <a:cs typeface="Arial" pitchFamily="34" charset="0"/>
              </a:rPr>
              <a:t>настройки для Оконной функции, что бы управлять «размером окна» - то есть количеством входящих в него строк.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4000" dirty="0" smtClean="0"/>
              <a:t>Параметры </a:t>
            </a:r>
            <a:r>
              <a:rPr lang="en-US" sz="4000" dirty="0" smtClean="0"/>
              <a:t>ROWS BETWEEN</a:t>
            </a:r>
            <a:endParaRPr lang="ru-RU" sz="4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35428" y="1148080"/>
          <a:ext cx="7765144" cy="2072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82572"/>
                <a:gridCol w="388257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Форма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Что она делает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ROWS BETWEEN </a:t>
                      </a:r>
                      <a:r>
                        <a:rPr lang="en-US" sz="1600" b="1" dirty="0"/>
                        <a:t>UNBOUNDED</a:t>
                      </a:r>
                      <a:r>
                        <a:rPr lang="en-US" sz="1600" dirty="0"/>
                        <a:t> PRECEDING AND </a:t>
                      </a:r>
                      <a:r>
                        <a:rPr lang="en-US" sz="1600" b="1" dirty="0"/>
                        <a:t>CURRENT 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От начала окна до текущей строки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ROWS BETWEEN </a:t>
                      </a:r>
                      <a:r>
                        <a:rPr lang="en-US" sz="1600" b="1" dirty="0"/>
                        <a:t>2</a:t>
                      </a:r>
                      <a:r>
                        <a:rPr lang="en-US" sz="1600" dirty="0"/>
                        <a:t> PRECEDING AND </a:t>
                      </a:r>
                      <a:r>
                        <a:rPr lang="en-US" sz="1600" b="1" dirty="0"/>
                        <a:t>CURRENT</a:t>
                      </a:r>
                      <a:r>
                        <a:rPr lang="en-US" sz="1600" dirty="0"/>
                        <a:t> 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Последние 3 строки (2 предыдущие + текущая)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ROWS BETWEEN </a:t>
                      </a:r>
                      <a:r>
                        <a:rPr lang="en-US" sz="1600" b="1" dirty="0"/>
                        <a:t>CURRENT</a:t>
                      </a:r>
                      <a:r>
                        <a:rPr lang="en-US" sz="1600" dirty="0"/>
                        <a:t> ROW AND </a:t>
                      </a:r>
                      <a:r>
                        <a:rPr lang="en-US" sz="1600" b="1" dirty="0"/>
                        <a:t>UNBOUNDED</a:t>
                      </a:r>
                      <a:r>
                        <a:rPr lang="en-US" sz="1600" dirty="0"/>
                        <a:t> FOLLOWING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Текущая и все после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1681" name="Picture 1" descr="D:\GitHub\AIS_courses\Анализ_данных_SQL_Hive\лекция_08\img\window-fram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0970" y="3419602"/>
            <a:ext cx="6103257" cy="32118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SUM() — накопительная сумма (</a:t>
            </a:r>
            <a:r>
              <a:rPr lang="ru-RU" sz="3200" dirty="0" err="1" smtClean="0"/>
              <a:t>running</a:t>
            </a:r>
            <a:r>
              <a:rPr lang="ru-RU" sz="3200" dirty="0" smtClean="0"/>
              <a:t> </a:t>
            </a:r>
            <a:r>
              <a:rPr lang="ru-RU" sz="3200" dirty="0" err="1" smtClean="0"/>
              <a:t>total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06398" y="9724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накопительная сумма заказов клиента по дате: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709" y="1730142"/>
            <a:ext cx="6151309" cy="3132138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84628" y="5283191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dirty="0" smtClean="0"/>
              <a:t>Вычисляет сумму всех заказов клиента от самого первого до текущего.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SUM() — накопительная сумма (</a:t>
            </a:r>
            <a:r>
              <a:rPr lang="ru-RU" sz="3200" dirty="0" err="1" smtClean="0"/>
              <a:t>running</a:t>
            </a:r>
            <a:r>
              <a:rPr lang="ru-RU" sz="3200" dirty="0" smtClean="0"/>
              <a:t> </a:t>
            </a:r>
            <a:r>
              <a:rPr lang="ru-RU" sz="3200" dirty="0" err="1" smtClean="0"/>
              <a:t>total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pic>
        <p:nvPicPr>
          <p:cNvPr id="78850" name="Picture 2" descr="D:\GitHub\AIS_courses\Анализ_данных_SQL_Hive\лекция_08\img\sum-application.pn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44" y="2512785"/>
            <a:ext cx="8721909" cy="21535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AVG() — </a:t>
            </a:r>
            <a:r>
              <a:rPr lang="ru-RU" sz="3200" dirty="0" smtClean="0"/>
              <a:t>скользящее среднее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06398" y="9724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средняя сумма заказа за последние 3 строки по каждому клиенту: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84628" y="5246906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dirty="0" smtClean="0"/>
              <a:t>Вычисляет сумму всех заказов клиента от самого первого до текущего.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472" y="1544636"/>
            <a:ext cx="5500295" cy="336844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AVG() — </a:t>
            </a:r>
            <a:r>
              <a:rPr lang="ru-RU" sz="3200" dirty="0" smtClean="0"/>
              <a:t>скользящее среднее</a:t>
            </a:r>
            <a:endParaRPr lang="ru-RU" sz="3200" dirty="0"/>
          </a:p>
        </p:txBody>
      </p:sp>
      <p:pic>
        <p:nvPicPr>
          <p:cNvPr id="77826" name="Picture 2" descr="D:\GitHub\AIS_courses\Анализ_данных_SQL_Hive\лекция_08\img\partitionin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9088" y="1800225"/>
            <a:ext cx="8505825" cy="325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98212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COUNT() </a:t>
            </a:r>
            <a:r>
              <a:rPr lang="ru-RU" sz="3200" dirty="0" smtClean="0"/>
              <a:t>— подсчёт строк в окне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06398" y="972457"/>
            <a:ext cx="81134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Для каждого клиента посчитать, </a:t>
            </a:r>
            <a:r>
              <a:rPr lang="ru-RU" sz="1600" b="1" dirty="0" smtClean="0"/>
              <a:t>сколько клиентов в его городе</a:t>
            </a:r>
            <a:r>
              <a:rPr lang="ru-RU" sz="1600" dirty="0" smtClean="0"/>
              <a:t> (включая его самого):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00742" y="4470379"/>
            <a:ext cx="7866743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b="1" dirty="0" smtClean="0"/>
              <a:t>Что делает этот запрос:</a:t>
            </a:r>
          </a:p>
          <a:p>
            <a:endParaRPr lang="ru-RU" sz="1600" b="1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COUNT(*) OVER (PARTITION BY </a:t>
            </a:r>
            <a:r>
              <a:rPr lang="ru-RU" sz="1600" dirty="0" err="1" smtClean="0"/>
              <a:t>city</a:t>
            </a:r>
            <a:r>
              <a:rPr lang="ru-RU" sz="1600" dirty="0" smtClean="0"/>
              <a:t>) — считает количество клиентов </a:t>
            </a:r>
            <a:r>
              <a:rPr lang="ru-RU" sz="1600" b="1" dirty="0" smtClean="0"/>
              <a:t>в рамках каждого города</a:t>
            </a:r>
            <a:r>
              <a:rPr lang="ru-RU" sz="1600" dirty="0" smtClean="0"/>
              <a:t>, не агрегируя строки.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Каждая строка остаётся на месте, просто появляется новое значение </a:t>
            </a:r>
            <a:r>
              <a:rPr lang="ru-RU" sz="1600" dirty="0" err="1" smtClean="0"/>
              <a:t>clients_in_city</a:t>
            </a:r>
            <a:r>
              <a:rPr lang="ru-RU" sz="1600" dirty="0" smtClean="0"/>
              <a:t>, показывающее, сколько клиентов проживают в том же городе, что и текущий клиент.</a:t>
            </a:r>
            <a:endParaRPr lang="ru-RU" sz="1600" dirty="0"/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746" y="1694541"/>
            <a:ext cx="5824383" cy="2565401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ROW_NUMBER() — порядковый номер строки в пределах группы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35425" y="15312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показать номер заказа по дате для каждого клиента.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904" y="2016807"/>
            <a:ext cx="8431666" cy="171579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RANK()— ранжирование с пропусками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35425" y="15312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определить «топ» заказов по сумме.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5155" y="2057175"/>
            <a:ext cx="8443547" cy="152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DENSE_RANK()</a:t>
            </a:r>
            <a:r>
              <a:rPr lang="ru-RU" sz="3200" dirty="0" smtClean="0"/>
              <a:t>— ранжирование без пропусков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35425" y="15312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определить «топ» заказов по сумме.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143" y="2085815"/>
            <a:ext cx="8304485" cy="15717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15" y="321583"/>
            <a:ext cx="8021864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Разница между RANK() и DENSE_RANK()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70110" y="1531257"/>
            <a:ext cx="7866743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 smtClean="0"/>
              <a:t>RANK() пропускает значения при одинаковых рангах (например: 1, 1, 3).</a:t>
            </a:r>
          </a:p>
          <a:p>
            <a:endParaRPr lang="ru-RU" sz="1600" dirty="0" smtClean="0"/>
          </a:p>
          <a:p>
            <a:r>
              <a:rPr lang="ru-RU" sz="1600" dirty="0" smtClean="0"/>
              <a:t>DENSE_RANK() не пропускает значения (например: 1, 1, 2).</a:t>
            </a:r>
          </a:p>
          <a:p>
            <a:endParaRPr lang="ru-RU" sz="1600" dirty="0" smtClean="0"/>
          </a:p>
          <a:p>
            <a:endParaRPr lang="ru-RU" sz="1600" dirty="0" smtClean="0"/>
          </a:p>
          <a:p>
            <a:r>
              <a:rPr lang="ru-RU" sz="1600" dirty="0" smtClean="0"/>
              <a:t>Это полезно, если нужно </a:t>
            </a:r>
            <a:r>
              <a:rPr lang="ru-RU" sz="1600" b="1" dirty="0" smtClean="0"/>
              <a:t>последовательно ранжировать без разрывов</a:t>
            </a:r>
            <a:r>
              <a:rPr lang="ru-RU" sz="1600" dirty="0" smtClean="0"/>
              <a:t>, даже при одинаковых значениях </a:t>
            </a:r>
            <a:r>
              <a:rPr lang="ru-RU" sz="1600" dirty="0" err="1" smtClean="0"/>
              <a:t>order_ammount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Различия между:</a:t>
            </a:r>
            <a:br>
              <a:rPr lang="ru-RU" sz="3200" dirty="0" smtClean="0"/>
            </a:br>
            <a:r>
              <a:rPr lang="en-US" sz="3200" dirty="0" smtClean="0"/>
              <a:t>ROW_NUMBER(), RANK(), DENSE_RANK()</a:t>
            </a:r>
            <a:endParaRPr lang="ru-RU" sz="32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41084" y="1665514"/>
          <a:ext cx="8476344" cy="344128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61887"/>
                <a:gridCol w="2576285"/>
                <a:gridCol w="1531258"/>
                <a:gridCol w="2706914"/>
              </a:tblGrid>
              <a:tr h="627743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Функция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Поведение при одинаковых значениях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Пропускает номера?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Пример результата при значениях: 100, 100, 90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781538">
                <a:tc>
                  <a:txBody>
                    <a:bodyPr/>
                    <a:lstStyle/>
                    <a:p>
                      <a:r>
                        <a:rPr lang="en-US" sz="1500"/>
                        <a:t>ROW_NUMBER()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Всегда уникальные номера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Нет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1, 2, 3</a:t>
                      </a:r>
                    </a:p>
                  </a:txBody>
                  <a:tcPr marL="78154" marR="78154" marT="39077" marB="39077" anchor="ctr"/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lang="en-US" sz="1500"/>
                        <a:t>RANK()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Одинаковый ранг при одинаковом значении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Да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1, 1, 3</a:t>
                      </a:r>
                    </a:p>
                  </a:txBody>
                  <a:tcPr marL="78154" marR="78154" marT="39077" marB="39077" anchor="ctr"/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lang="en-US" sz="1500"/>
                        <a:t>DENSE_RANK()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Одинаковый ранг при одинаковом значении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Нет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1, 1, 2</a:t>
                      </a:r>
                    </a:p>
                  </a:txBody>
                  <a:tcPr marL="78154" marR="78154" marT="39077" marB="3907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Различия между:</a:t>
            </a:r>
            <a:br>
              <a:rPr lang="ru-RU" sz="3200" dirty="0" smtClean="0"/>
            </a:br>
            <a:r>
              <a:rPr lang="en-US" sz="3200" dirty="0" smtClean="0"/>
              <a:t>ROW_NUMBER(), RANK(), DENSE_RANK()</a:t>
            </a: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97681" y="1604220"/>
            <a:ext cx="355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Когда какую функцию применять?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5257" y="2087154"/>
          <a:ext cx="7990114" cy="2286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89200"/>
                <a:gridCol w="550091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Функция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Использовать когда...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ROW_NUMBER()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Нужно присвоить уникальный порядковый номер каждой строке, даже при дубликатах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RANK()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Нужен реалистичный рейтинг с пропущенными местами при равных значениях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DENSE_RANK()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Нужен рейтинг без пропусков (например, в спорте или распределении призовых мест)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Различия между:</a:t>
            </a:r>
            <a:br>
              <a:rPr lang="ru-RU" sz="3200" dirty="0" smtClean="0"/>
            </a:br>
            <a:r>
              <a:rPr lang="en-US" sz="3200" dirty="0" smtClean="0"/>
              <a:t>ROW_NUMBER(), RANK(), DENSE_RANK()</a:t>
            </a:r>
            <a:endParaRPr lang="ru-RU" sz="3200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543" y="1277257"/>
            <a:ext cx="3137399" cy="5279990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37424" y="1313541"/>
            <a:ext cx="48913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b="1" dirty="0" smtClean="0"/>
              <a:t>Задача</a:t>
            </a:r>
            <a:r>
              <a:rPr lang="ru-RU" sz="1600" dirty="0" smtClean="0"/>
              <a:t>: показать сумму заказа и сразу применить все три оконные функции для каждого клиента.</a:t>
            </a:r>
            <a:endParaRPr lang="ru-RU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263525"/>
            <a:ext cx="8258629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2800" b="1" dirty="0" smtClean="0"/>
              <a:t>LAG() / LEAD() </a:t>
            </a:r>
            <a:r>
              <a:rPr lang="ru-RU" sz="2800" dirty="0" smtClean="0"/>
              <a:t>— доступ к предыдущей / следующей строке</a:t>
            </a:r>
            <a:endParaRPr lang="ru-RU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288971" y="1110342"/>
            <a:ext cx="4622800" cy="155427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ru-RU" sz="1600" dirty="0" smtClean="0"/>
              <a:t>Для каждого клиента и заказа вывести: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ru-RU" sz="1600" dirty="0" smtClean="0"/>
              <a:t> текущую сумму заказа,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ru-RU" sz="1600" dirty="0" smtClean="0"/>
              <a:t> сумму </a:t>
            </a:r>
            <a:r>
              <a:rPr lang="ru-RU" sz="1600" b="1" dirty="0" smtClean="0"/>
              <a:t>предыдущего</a:t>
            </a:r>
            <a:r>
              <a:rPr lang="ru-RU" sz="1600" dirty="0" smtClean="0"/>
              <a:t> заказа (с помощью LAG()),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ru-RU" sz="1600" dirty="0" smtClean="0"/>
              <a:t> сумму </a:t>
            </a:r>
            <a:r>
              <a:rPr lang="ru-RU" sz="1600" b="1" dirty="0" smtClean="0"/>
              <a:t>следующего</a:t>
            </a:r>
            <a:r>
              <a:rPr lang="ru-RU" sz="1600" dirty="0" smtClean="0"/>
              <a:t> заказа (с помощью LEAD()),</a:t>
            </a:r>
            <a:br>
              <a:rPr lang="ru-RU" sz="1600" dirty="0" smtClean="0"/>
            </a:br>
            <a:r>
              <a:rPr lang="ru-RU" sz="1600" dirty="0" smtClean="0"/>
              <a:t>упорядочив по дате заказа.</a:t>
            </a:r>
            <a:endParaRPr lang="ru-RU" sz="16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88972" y="2989936"/>
            <a:ext cx="425268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b="1" dirty="0" smtClean="0"/>
              <a:t>Что делает запрос:</a:t>
            </a:r>
            <a:br>
              <a:rPr lang="ru-RU" sz="1600" b="1" dirty="0" smtClean="0"/>
            </a:br>
            <a:endParaRPr lang="ru-RU" sz="1600" b="1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LAG(</a:t>
            </a:r>
            <a:r>
              <a:rPr lang="en-US" sz="1600" dirty="0" err="1" smtClean="0"/>
              <a:t>order_ammount</a:t>
            </a:r>
            <a:r>
              <a:rPr lang="en-US" sz="1600" dirty="0" smtClean="0"/>
              <a:t>) — </a:t>
            </a:r>
            <a:r>
              <a:rPr lang="ru-RU" sz="1600" dirty="0" smtClean="0"/>
              <a:t>берёт </a:t>
            </a:r>
            <a:r>
              <a:rPr lang="ru-RU" sz="1600" b="1" dirty="0" smtClean="0"/>
              <a:t>сумму предыдущего заказа</a:t>
            </a:r>
            <a:r>
              <a:rPr lang="ru-RU" sz="1600" dirty="0" smtClean="0"/>
              <a:t> клиента по дате;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LEAD(</a:t>
            </a:r>
            <a:r>
              <a:rPr lang="en-US" sz="1600" dirty="0" err="1" smtClean="0"/>
              <a:t>order_ammount</a:t>
            </a:r>
            <a:r>
              <a:rPr lang="en-US" sz="1600" dirty="0" smtClean="0"/>
              <a:t>) — </a:t>
            </a:r>
            <a:r>
              <a:rPr lang="ru-RU" sz="1600" dirty="0" smtClean="0"/>
              <a:t>берёт </a:t>
            </a:r>
            <a:r>
              <a:rPr lang="ru-RU" sz="1600" b="1" dirty="0" smtClean="0"/>
              <a:t>сумму следующего заказа</a:t>
            </a:r>
            <a:r>
              <a:rPr lang="ru-RU" sz="1600" dirty="0" smtClean="0"/>
              <a:t>;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PARTITION BY </a:t>
            </a:r>
            <a:r>
              <a:rPr lang="en-US" sz="1600" dirty="0" err="1" smtClean="0"/>
              <a:t>client_id</a:t>
            </a:r>
            <a:r>
              <a:rPr lang="en-US" sz="1600" dirty="0" smtClean="0"/>
              <a:t> — </a:t>
            </a:r>
            <a:r>
              <a:rPr lang="ru-RU" sz="1600" dirty="0" smtClean="0"/>
              <a:t>расчёты ведутся отдельно </a:t>
            </a:r>
            <a:r>
              <a:rPr lang="ru-RU" sz="1600" b="1" dirty="0" smtClean="0"/>
              <a:t>для каждого клиента</a:t>
            </a:r>
            <a:r>
              <a:rPr lang="ru-RU" sz="1600" dirty="0" smtClean="0"/>
              <a:t>;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ORDER BY </a:t>
            </a:r>
            <a:r>
              <a:rPr lang="en-US" sz="1600" dirty="0" err="1" smtClean="0"/>
              <a:t>order_date</a:t>
            </a:r>
            <a:r>
              <a:rPr lang="en-US" sz="1600" dirty="0" smtClean="0"/>
              <a:t> — </a:t>
            </a:r>
            <a:r>
              <a:rPr lang="ru-RU" sz="1600" dirty="0" smtClean="0"/>
              <a:t>упорядочивание заказов по времени.</a:t>
            </a:r>
            <a:endParaRPr lang="ru-RU" sz="1600" dirty="0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3722" y="1120320"/>
            <a:ext cx="3437247" cy="5396593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263525"/>
            <a:ext cx="8258629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2800" b="1" dirty="0" smtClean="0"/>
              <a:t>LAG() / LEAD() </a:t>
            </a:r>
            <a:r>
              <a:rPr lang="ru-RU" sz="2800" dirty="0" smtClean="0"/>
              <a:t>— доступ к предыдущей / следующей строке</a:t>
            </a:r>
            <a:endParaRPr lang="ru-RU" sz="2800" dirty="0"/>
          </a:p>
        </p:txBody>
      </p:sp>
      <p:pic>
        <p:nvPicPr>
          <p:cNvPr id="89090" name="Picture 2" descr="D:\GitHub\AIS_courses\Анализ_данных_SQL_Hive\лекция_08\img\LearnSQL-com-Six-Examples-Using-MySQL-Window-Functions.png"/>
          <p:cNvPicPr>
            <a:picLocks noChangeAspect="1" noChangeArrowheads="1"/>
          </p:cNvPicPr>
          <p:nvPr/>
        </p:nvPicPr>
        <p:blipFill>
          <a:blip r:embed="rId2"/>
          <a:srcRect t="11265" r="22114"/>
          <a:stretch>
            <a:fillRect/>
          </a:stretch>
        </p:blipFill>
        <p:spPr bwMode="auto">
          <a:xfrm>
            <a:off x="310241" y="1226459"/>
            <a:ext cx="7999187" cy="48848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263525"/>
            <a:ext cx="825862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4000" dirty="0" smtClean="0"/>
              <a:t>Пример прикладного запроса</a:t>
            </a:r>
            <a:endParaRPr 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7371" y="1414921"/>
            <a:ext cx="6132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Найти самый первый заказ каждого клиента по дате:</a:t>
            </a:r>
            <a:endParaRPr lang="ru-RU" dirty="0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8343" y="2429633"/>
            <a:ext cx="8367485" cy="230429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4196</TotalTime>
  <Words>1705</Words>
  <Application>Microsoft Office PowerPoint</Application>
  <PresentationFormat>Экран (4:3)</PresentationFormat>
  <Paragraphs>373</Paragraphs>
  <Slides>56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57" baseType="lpstr">
      <vt:lpstr>Office Theme</vt:lpstr>
      <vt:lpstr>Слайд 1</vt:lpstr>
      <vt:lpstr>Слайд 2</vt:lpstr>
      <vt:lpstr>Создание группы данных</vt:lpstr>
      <vt:lpstr>Группировка данных: синтаксис оператора GROUP BY</vt:lpstr>
      <vt:lpstr>Применение выражения GROUP BY</vt:lpstr>
      <vt:lpstr>Представления - View</vt:lpstr>
      <vt:lpstr>Представления</vt:lpstr>
      <vt:lpstr>Представления</vt:lpstr>
      <vt:lpstr>Подробнее о представлениях</vt:lpstr>
      <vt:lpstr>Преимущества представлений</vt:lpstr>
      <vt:lpstr>Virtual View (Обычное представление)</vt:lpstr>
      <vt:lpstr>Materialized View (Материализованное представление)</vt:lpstr>
      <vt:lpstr>Создание представления (PostgreSQL)</vt:lpstr>
      <vt:lpstr>Создание представления</vt:lpstr>
      <vt:lpstr>Создание представления</vt:lpstr>
      <vt:lpstr>Получение данных из представления</vt:lpstr>
      <vt:lpstr>Изменение представления (PostgreSQL)</vt:lpstr>
      <vt:lpstr>Создание сложных представлений</vt:lpstr>
      <vt:lpstr>Изменение представления (Hive)</vt:lpstr>
      <vt:lpstr>Оконные функции</vt:lpstr>
      <vt:lpstr>Window functions / оконные функции</vt:lpstr>
      <vt:lpstr>WINDOW / OVER</vt:lpstr>
      <vt:lpstr>WINDOW / OVER</vt:lpstr>
      <vt:lpstr>WINDOW / OVER</vt:lpstr>
      <vt:lpstr>Оконные функции вместо группировки</vt:lpstr>
      <vt:lpstr>Оконные функции вместо группировки</vt:lpstr>
      <vt:lpstr>Оконные функции: пример 1</vt:lpstr>
      <vt:lpstr>Оконные функции: пример 1</vt:lpstr>
      <vt:lpstr>Оконные функции: пример 2</vt:lpstr>
      <vt:lpstr>Оконные функции</vt:lpstr>
      <vt:lpstr>Оконные функции</vt:lpstr>
      <vt:lpstr>Оконные функции</vt:lpstr>
      <vt:lpstr>Оконные функции</vt:lpstr>
      <vt:lpstr>Оконные функции вместо рекурсии</vt:lpstr>
      <vt:lpstr>Совместное вычисление по разным "окнам"</vt:lpstr>
      <vt:lpstr>Оконные функции в Hive</vt:lpstr>
      <vt:lpstr>GROUP BY и Оконные функции</vt:lpstr>
      <vt:lpstr>Оконные функции в Hive</vt:lpstr>
      <vt:lpstr>Синтаксис оконной функции</vt:lpstr>
      <vt:lpstr>Диапазон строк в Оконной функции</vt:lpstr>
      <vt:lpstr>Параметры ROWS BETWEEN</vt:lpstr>
      <vt:lpstr>SUM() — накопительная сумма (running total)</vt:lpstr>
      <vt:lpstr>SUM() — накопительная сумма (running total)</vt:lpstr>
      <vt:lpstr>AVG() — скользящее среднее</vt:lpstr>
      <vt:lpstr>AVG() — скользящее среднее</vt:lpstr>
      <vt:lpstr>COUNT() — подсчёт строк в окне</vt:lpstr>
      <vt:lpstr>ROW_NUMBER() — порядковый номер строки в пределах группы</vt:lpstr>
      <vt:lpstr>RANK()— ранжирование с пропусками</vt:lpstr>
      <vt:lpstr>DENSE_RANK()— ранжирование без пропусков</vt:lpstr>
      <vt:lpstr>Разница между RANK() и DENSE_RANK()</vt:lpstr>
      <vt:lpstr>Различия между: ROW_NUMBER(), RANK(), DENSE_RANK()</vt:lpstr>
      <vt:lpstr>Различия между: ROW_NUMBER(), RANK(), DENSE_RANK()</vt:lpstr>
      <vt:lpstr>Различия между: ROW_NUMBER(), RANK(), DENSE_RANK()</vt:lpstr>
      <vt:lpstr>LAG() / LEAD() — доступ к предыдущей / следующей строке</vt:lpstr>
      <vt:lpstr>LAG() / LEAD() — доступ к предыдущей / следующей строке</vt:lpstr>
      <vt:lpstr>Пример прикладного запроса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Suboch, Kirill</dc:creator>
  <cp:lastModifiedBy>andrey</cp:lastModifiedBy>
  <cp:revision>202</cp:revision>
  <dcterms:created xsi:type="dcterms:W3CDTF">2020-10-05T08:41:16Z</dcterms:created>
  <dcterms:modified xsi:type="dcterms:W3CDTF">2025-09-10T06:12:52Z</dcterms:modified>
</cp:coreProperties>
</file>